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6" r:id="rId2"/>
    <p:sldId id="271" r:id="rId3"/>
    <p:sldId id="259" r:id="rId4"/>
    <p:sldId id="260" r:id="rId5"/>
    <p:sldId id="261" r:id="rId6"/>
    <p:sldId id="262" r:id="rId7"/>
    <p:sldId id="269" r:id="rId8"/>
    <p:sldId id="265" r:id="rId9"/>
    <p:sldId id="266" r:id="rId10"/>
    <p:sldId id="267" r:id="rId11"/>
    <p:sldId id="268" r:id="rId12"/>
    <p:sldId id="276" r:id="rId13"/>
    <p:sldId id="277" r:id="rId14"/>
    <p:sldId id="278" r:id="rId15"/>
    <p:sldId id="279" r:id="rId16"/>
    <p:sldId id="280" r:id="rId17"/>
    <p:sldId id="27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</p:sldIdLst>
  <p:sldSz cx="16256000" cy="9144000"/>
  <p:notesSz cx="6858000" cy="9144000"/>
  <p:embeddedFontLst>
    <p:embeddedFont>
      <p:font typeface="맑은 고딕" panose="020B0503020000020004" pitchFamily="34" charset="-127"/>
      <p:regular r:id="rId35"/>
      <p:bold r:id="rId36"/>
    </p:embeddedFont>
    <p:embeddedFont>
      <p:font typeface="Apple SD Gothic Neo" panose="02000300000000000000" pitchFamily="2" charset="-127"/>
      <p:regular r:id="rId37"/>
      <p:bold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NanumBarunGothic" panose="020B0603020101020101" pitchFamily="34" charset="-127"/>
      <p:regular r:id="rId43"/>
      <p:bold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63" autoAdjust="0"/>
    <p:restoredTop sz="71837" autoAdjust="0"/>
  </p:normalViewPr>
  <p:slideViewPr>
    <p:cSldViewPr>
      <p:cViewPr varScale="1">
        <p:scale>
          <a:sx n="67" d="100"/>
          <a:sy n="67" d="100"/>
        </p:scale>
        <p:origin x="120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EBA59-11B4-49D4-BCEE-0C07324B8E7B}" type="datetimeFigureOut">
              <a:rPr lang="ko-KR" altLang="en-US" smtClean="0"/>
              <a:t>2026. 9. 1.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B73B1-D5EE-44EA-B4AE-534D1FD0D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873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암세포에서는 유전자 수준의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나타나지만 염색체와 전체 유전체 수준의 변화도 함께 나타날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1"/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유전체 불안정성과 관련된 대표적인 세가지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WGD, CIN, LOH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WGD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암세포의 전체 유전체가 한 번 더 복제된 상태이고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염색체의 수나 구조가 계속 불안정하게 변하는 상태입니다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LOH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같은 위치에 있던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서로다른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유전정보 중 하나가 소실된 상태를 말합니다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en-US" altLang="ko-KR" dirty="0"/>
          </a:p>
          <a:p>
            <a:pPr latinLnBrk="1"/>
            <a:r>
              <a:rPr lang="ko-KR" altLang="en-US" dirty="0"/>
              <a:t>이렇듯 유전체 불안정성은 암세포의 진화와 다양성을 보여주는 중요한 특징입니다</a:t>
            </a:r>
            <a:r>
              <a:rPr lang="en-US" altLang="ko-KR" dirty="0"/>
              <a:t>.</a:t>
            </a:r>
          </a:p>
          <a:p>
            <a:pPr latinLnBrk="1"/>
            <a:endParaRPr lang="en-US" altLang="ko-KR" dirty="0"/>
          </a:p>
          <a:p>
            <a:pPr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저희는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유전체 불안정성에 주목하여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프로젝트를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진행하였습니다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1"/>
            <a:endParaRPr lang="en-US" altLang="ko-KR" dirty="0"/>
          </a:p>
          <a:p>
            <a:pPr latinLnBrk="1"/>
            <a:r>
              <a:rPr lang="ko-KR" altLang="en-US" dirty="0"/>
              <a:t>이러한 </a:t>
            </a:r>
            <a:r>
              <a:rPr lang="en" altLang="ko-KR" dirty="0"/>
              <a:t>WGD, CIN, LOH</a:t>
            </a:r>
            <a:r>
              <a:rPr lang="ko-KR" altLang="en-US" dirty="0"/>
              <a:t>는 특정 유전자 하나의</a:t>
            </a:r>
            <a:r>
              <a:rPr lang="en-US" altLang="ko-KR" dirty="0"/>
              <a:t> mutation</a:t>
            </a:r>
            <a:r>
              <a:rPr lang="ko-KR" altLang="en-US" dirty="0"/>
              <a:t>이 아니라</a:t>
            </a:r>
            <a:r>
              <a:rPr lang="en-US" altLang="ko-KR" dirty="0"/>
              <a:t> </a:t>
            </a:r>
            <a:r>
              <a:rPr lang="ko-KR" altLang="en-US" dirty="0"/>
              <a:t>염색체 전체 또는 큰 구간이 복제되거나 소실된 패턴을 확인해야 하기 때문에</a:t>
            </a:r>
            <a:endParaRPr lang="en-US" altLang="ko-KR" dirty="0"/>
          </a:p>
          <a:p>
            <a:pPr latinLnBrk="1"/>
            <a:r>
              <a:rPr lang="ko-KR" altLang="en-US" dirty="0" err="1"/>
              <a:t>위치별</a:t>
            </a:r>
            <a:r>
              <a:rPr lang="ko-KR" altLang="en-US" dirty="0"/>
              <a:t> </a:t>
            </a:r>
            <a:r>
              <a:rPr lang="en" altLang="ko-KR" dirty="0"/>
              <a:t>DNA </a:t>
            </a:r>
            <a:r>
              <a:rPr lang="ko-KR" altLang="en-US" dirty="0"/>
              <a:t>사본 수인 </a:t>
            </a:r>
            <a:r>
              <a:rPr lang="en" altLang="ko-KR" dirty="0"/>
              <a:t>copy number</a:t>
            </a:r>
            <a:r>
              <a:rPr lang="ko-KR" altLang="en-US" dirty="0"/>
              <a:t>와 전체 염색체 배수성인 </a:t>
            </a:r>
            <a:r>
              <a:rPr lang="en" altLang="ko-KR" dirty="0"/>
              <a:t>ploidy </a:t>
            </a:r>
            <a:r>
              <a:rPr lang="ko-KR" altLang="en-US" dirty="0"/>
              <a:t>정보가 필요합니다</a:t>
            </a:r>
            <a:r>
              <a:rPr lang="en-US" altLang="ko-KR" dirty="0"/>
              <a:t>.</a:t>
            </a:r>
          </a:p>
          <a:p>
            <a:pPr latinLnBrk="1"/>
            <a:r>
              <a:rPr lang="ko-KR" altLang="en-US" dirty="0"/>
              <a:t>하지만 표적 </a:t>
            </a:r>
            <a:r>
              <a:rPr lang="en" altLang="ko-KR" dirty="0"/>
              <a:t>NGS</a:t>
            </a:r>
            <a:r>
              <a:rPr lang="ko-KR" altLang="en-US" dirty="0"/>
              <a:t>나 기존 </a:t>
            </a:r>
            <a:r>
              <a:rPr lang="ko-KR" altLang="en-US" dirty="0" err="1"/>
              <a:t>후향적</a:t>
            </a:r>
            <a:r>
              <a:rPr lang="ko-KR" altLang="en-US" dirty="0"/>
              <a:t> </a:t>
            </a:r>
            <a:r>
              <a:rPr lang="ko-KR" altLang="en-US" dirty="0" err="1"/>
              <a:t>코호트에는</a:t>
            </a:r>
            <a:r>
              <a:rPr lang="ko-KR" altLang="en-US" dirty="0"/>
              <a:t> </a:t>
            </a:r>
            <a:r>
              <a:rPr lang="en" altLang="ko-KR" dirty="0"/>
              <a:t>mutation </a:t>
            </a:r>
            <a:r>
              <a:rPr lang="ko-KR" altLang="en-US" dirty="0"/>
              <a:t>정보만 있는 경우도 있습니다</a:t>
            </a:r>
            <a:r>
              <a:rPr lang="en-US" altLang="ko-KR" dirty="0"/>
              <a:t>.</a:t>
            </a:r>
          </a:p>
          <a:p>
            <a:pPr latinLnBrk="1"/>
            <a:r>
              <a:rPr lang="ko-KR" altLang="en-US" dirty="0"/>
              <a:t>그래서 저희는 소수의 </a:t>
            </a:r>
            <a:r>
              <a:rPr lang="en" altLang="ko-KR" dirty="0"/>
              <a:t>mutation</a:t>
            </a:r>
            <a:r>
              <a:rPr lang="ko-KR" altLang="en-US" dirty="0"/>
              <a:t>만으로 유전체 불안정성 상태를 예측할 수 있는지 확인하고자 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117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이러한 목적을 이루기 위해서 프로젝트를 세 단계로 진행해보았습니다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첫 번째로</a:t>
            </a:r>
            <a:r>
              <a:rPr lang="en-US" altLang="ko-KR" dirty="0"/>
              <a:t> mutation </a:t>
            </a:r>
            <a:r>
              <a:rPr lang="ko-KR" altLang="en-US" dirty="0"/>
              <a:t>정보만으로 </a:t>
            </a:r>
            <a:r>
              <a:rPr lang="en-US" altLang="ko-KR" dirty="0"/>
              <a:t>WGD, CIN, LOH</a:t>
            </a:r>
            <a:r>
              <a:rPr lang="ko-KR" altLang="en-US" dirty="0"/>
              <a:t>와 같은 유전체 불안정성 상태를 예측할 수 있는지 확인하고자 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여기서 실제로 예측 신호가 확인된다면</a:t>
            </a:r>
            <a:r>
              <a:rPr lang="en-US" altLang="ko-KR" dirty="0"/>
              <a:t>, </a:t>
            </a:r>
            <a:r>
              <a:rPr lang="ko-KR" altLang="en-US" dirty="0"/>
              <a:t>두 번째 단계에서는 예측에 필요한 </a:t>
            </a:r>
            <a:r>
              <a:rPr lang="en-US" altLang="ko-KR" dirty="0"/>
              <a:t>mutation </a:t>
            </a:r>
            <a:r>
              <a:rPr lang="ko-KR" altLang="en-US" dirty="0"/>
              <a:t>정보를 얼마나 줄일 수 있는지를 탐색했습니다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수많은 </a:t>
            </a:r>
            <a:r>
              <a:rPr lang="en-US" altLang="ko-KR" dirty="0"/>
              <a:t>mutation </a:t>
            </a:r>
            <a:r>
              <a:rPr lang="ko-KR" altLang="en-US" dirty="0"/>
              <a:t>정보를 모두 사용하지 않고도 일부 핵심 </a:t>
            </a:r>
            <a:r>
              <a:rPr lang="en-US" altLang="ko-KR" dirty="0"/>
              <a:t>mutation</a:t>
            </a:r>
            <a:r>
              <a:rPr lang="ko-KR" altLang="en-US" dirty="0"/>
              <a:t>만으로 예측 성능을 유지할 수 있는지를 확인했습니다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이 과정에서 성능이 충분히 유지된다면</a:t>
            </a:r>
            <a:r>
              <a:rPr lang="en-US" altLang="ko-KR" dirty="0"/>
              <a:t>, </a:t>
            </a:r>
            <a:r>
              <a:rPr lang="ko-KR" altLang="en-US" dirty="0"/>
              <a:t>최종적으로는 소수의 </a:t>
            </a:r>
            <a:r>
              <a:rPr lang="en-US" altLang="ko-KR" dirty="0"/>
              <a:t>mutation</a:t>
            </a:r>
            <a:r>
              <a:rPr lang="ko-KR" altLang="en-US" dirty="0" err="1"/>
              <a:t>으로</a:t>
            </a:r>
            <a:r>
              <a:rPr lang="ko-KR" altLang="en-US" dirty="0"/>
              <a:t> 구성된 최소 </a:t>
            </a:r>
            <a:r>
              <a:rPr lang="en-US" altLang="ko-KR" dirty="0"/>
              <a:t>Mutation Marker Panel</a:t>
            </a:r>
            <a:r>
              <a:rPr lang="ko-KR" altLang="en-US" dirty="0"/>
              <a:t>의 가능성을 확인하는 것을 목표로 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다시 말해</a:t>
            </a:r>
            <a:r>
              <a:rPr lang="en-US" altLang="ko-KR" dirty="0"/>
              <a:t>, </a:t>
            </a:r>
            <a:r>
              <a:rPr lang="ko-KR" altLang="en-US" dirty="0"/>
              <a:t>저희는 단순히 유전체 불안정성을 예측하고 더 나아가 예측에 필요한 필수 정보만 남겨 최종적으로 소형 </a:t>
            </a:r>
            <a:r>
              <a:rPr lang="en-US" altLang="ko-KR" dirty="0"/>
              <a:t>mutation panel</a:t>
            </a:r>
            <a:r>
              <a:rPr lang="ko-KR" altLang="en-US" dirty="0"/>
              <a:t>로 확장할 수 있는 가능성까지 단계적으로 검증하는 방향으로 프로젝트를 설계했습니다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934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** </a:t>
            </a:r>
            <a:r>
              <a:rPr lang="en" altLang="ko-KR" dirty="0" err="1"/>
              <a:t>DepMap</a:t>
            </a:r>
            <a:r>
              <a:rPr lang="ko-KR" altLang="en-US" dirty="0"/>
              <a:t>의 </a:t>
            </a:r>
            <a:r>
              <a:rPr lang="en" altLang="ko-KR" dirty="0"/>
              <a:t>copy number </a:t>
            </a:r>
            <a:r>
              <a:rPr lang="ko-KR" altLang="en-US" dirty="0"/>
              <a:t>패턴으로 정의된 </a:t>
            </a:r>
            <a:r>
              <a:rPr lang="en" altLang="ko-KR" dirty="0"/>
              <a:t>WGD, CIN, LOH</a:t>
            </a:r>
            <a:r>
              <a:rPr lang="ko-KR" altLang="en-US" dirty="0" err="1"/>
              <a:t>를</a:t>
            </a:r>
            <a:r>
              <a:rPr lang="ko-KR" altLang="en-US" dirty="0"/>
              <a:t> 정답으로 사용하고</a:t>
            </a:r>
            <a:r>
              <a:rPr lang="en-US" altLang="ko-KR" dirty="0"/>
              <a:t>, </a:t>
            </a:r>
            <a:r>
              <a:rPr lang="ko-KR" altLang="en-US" dirty="0"/>
              <a:t>모델에는 </a:t>
            </a:r>
            <a:r>
              <a:rPr lang="en" altLang="ko-KR" dirty="0"/>
              <a:t>copy number </a:t>
            </a:r>
            <a:r>
              <a:rPr lang="ko-KR" altLang="en-US" dirty="0"/>
              <a:t>정보를 제외한 유전자 </a:t>
            </a:r>
            <a:r>
              <a:rPr lang="ko-KR" altLang="en-US" dirty="0" err="1"/>
              <a:t>변이만</a:t>
            </a:r>
            <a:r>
              <a:rPr lang="ko-KR" altLang="en-US" dirty="0"/>
              <a:t> 입력했습니다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통해 </a:t>
            </a:r>
            <a:r>
              <a:rPr lang="en" altLang="ko-KR" dirty="0"/>
              <a:t>mutation </a:t>
            </a:r>
            <a:r>
              <a:rPr lang="ko-KR" altLang="en-US" dirty="0"/>
              <a:t>정보만으로 유전체 불안정성 상태를 예측할 수 있는지 확인했습니다</a:t>
            </a:r>
            <a:r>
              <a:rPr lang="en-US" altLang="ko-KR" dirty="0"/>
              <a:t>. </a:t>
            </a:r>
          </a:p>
          <a:p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** </a:t>
            </a:r>
            <a:r>
              <a:rPr lang="en" altLang="ko-KR" dirty="0" err="1"/>
              <a:t>DepMap</a:t>
            </a:r>
            <a:r>
              <a:rPr lang="en" altLang="ko-KR" dirty="0"/>
              <a:t> </a:t>
            </a:r>
            <a:r>
              <a:rPr lang="ko-KR" altLang="en-US" dirty="0" err="1"/>
              <a:t>암세포주</a:t>
            </a:r>
            <a:r>
              <a:rPr lang="ko-KR" altLang="en-US" dirty="0"/>
              <a:t> </a:t>
            </a:r>
            <a:r>
              <a:rPr lang="en-US" altLang="ko-KR" dirty="0"/>
              <a:t>1,631</a:t>
            </a:r>
            <a:r>
              <a:rPr lang="ko-KR" altLang="en-US" dirty="0"/>
              <a:t>개와 약 </a:t>
            </a:r>
            <a:r>
              <a:rPr lang="en-US" altLang="ko-KR" dirty="0"/>
              <a:t>2</a:t>
            </a:r>
            <a:r>
              <a:rPr lang="ko-KR" altLang="en-US" dirty="0"/>
              <a:t>만 개의 </a:t>
            </a:r>
            <a:r>
              <a:rPr lang="en" altLang="ko-KR" dirty="0"/>
              <a:t>mutation </a:t>
            </a:r>
            <a:r>
              <a:rPr lang="ko-KR" altLang="en-US" dirty="0"/>
              <a:t>정보를 사용하고</a:t>
            </a:r>
            <a:r>
              <a:rPr lang="en-US" altLang="ko-KR" dirty="0"/>
              <a:t>, </a:t>
            </a:r>
            <a:r>
              <a:rPr lang="ko-KR" altLang="en-US" dirty="0"/>
              <a:t>데이터 누수를 방지하기 위해 </a:t>
            </a:r>
            <a:r>
              <a:rPr lang="en-US" altLang="ko-KR" dirty="0"/>
              <a:t>5×3 </a:t>
            </a:r>
            <a:r>
              <a:rPr lang="en" altLang="ko-KR" dirty="0"/>
              <a:t>Nested Cross-Validation</a:t>
            </a:r>
            <a:r>
              <a:rPr lang="ko-KR" altLang="en-US" dirty="0"/>
              <a:t>을 적용했습니다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Inner CV</a:t>
            </a:r>
            <a:r>
              <a:rPr lang="ko-KR" altLang="en-US" dirty="0"/>
              <a:t>에서는 최적의 모델 조건을 찾고</a:t>
            </a:r>
            <a:r>
              <a:rPr lang="en-US" altLang="ko-KR" dirty="0"/>
              <a:t>, </a:t>
            </a:r>
            <a:r>
              <a:rPr lang="en" altLang="ko-KR" dirty="0"/>
              <a:t>Outer CV</a:t>
            </a:r>
            <a:r>
              <a:rPr lang="ko-KR" altLang="en-US" dirty="0"/>
              <a:t>에서는 한 번도 학습에 사용하지 않은 데이터로 최종 성능을 평가했습니다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5</a:t>
            </a:r>
            <a:r>
              <a:rPr lang="ko-KR" altLang="en-US" dirty="0"/>
              <a:t>개 모델 중 </a:t>
            </a:r>
            <a:r>
              <a:rPr lang="en" altLang="ko-KR" dirty="0"/>
              <a:t>Random Forest</a:t>
            </a:r>
            <a:r>
              <a:rPr lang="ko-KR" altLang="en-US" dirty="0"/>
              <a:t>가 가장 좋은 성능을 보였으며</a:t>
            </a:r>
            <a:r>
              <a:rPr lang="en-US" altLang="ko-KR" dirty="0"/>
              <a:t>, </a:t>
            </a:r>
            <a:r>
              <a:rPr lang="ko-KR" altLang="en-US" dirty="0"/>
              <a:t>이후 중요한 </a:t>
            </a:r>
            <a:r>
              <a:rPr lang="en" altLang="ko-KR" dirty="0"/>
              <a:t>mutation</a:t>
            </a:r>
            <a:r>
              <a:rPr lang="ko-KR" altLang="en-US" dirty="0"/>
              <a:t>만 선택해 </a:t>
            </a:r>
            <a:r>
              <a:rPr lang="en-US" altLang="ko-KR" dirty="0"/>
              <a:t>10~20</a:t>
            </a:r>
            <a:r>
              <a:rPr lang="ko-KR" altLang="en-US" dirty="0"/>
              <a:t>개 수준의 최소 패널에서도 성능이 유지되는지 확인했습니다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  <a:p>
            <a:r>
              <a:rPr lang="en-US" altLang="ko-KR" dirty="0"/>
              <a:t>-----</a:t>
            </a:r>
          </a:p>
          <a:p>
            <a:endParaRPr lang="en-US" altLang="ko-KR" dirty="0"/>
          </a:p>
          <a:p>
            <a:r>
              <a:rPr lang="en" altLang="ko-KR" dirty="0" err="1"/>
              <a:t>DepMap</a:t>
            </a:r>
            <a:r>
              <a:rPr lang="en" altLang="ko-KR" dirty="0"/>
              <a:t> </a:t>
            </a:r>
            <a:r>
              <a:rPr lang="ko-KR" altLang="en-US" dirty="0" err="1"/>
              <a:t>암세포주</a:t>
            </a:r>
            <a:r>
              <a:rPr lang="ko-KR" altLang="en-US" dirty="0"/>
              <a:t> </a:t>
            </a:r>
            <a:r>
              <a:rPr lang="en-US" altLang="ko-KR" dirty="0"/>
              <a:t>1,631</a:t>
            </a:r>
            <a:r>
              <a:rPr lang="ko-KR" altLang="en-US" dirty="0"/>
              <a:t>개를 사용했습니다</a:t>
            </a:r>
            <a:r>
              <a:rPr lang="en-US" altLang="ko-KR" dirty="0"/>
              <a:t>. </a:t>
            </a:r>
            <a:r>
              <a:rPr lang="ko-KR" altLang="en-US" dirty="0"/>
              <a:t>각 </a:t>
            </a:r>
            <a:r>
              <a:rPr lang="ko-KR" altLang="en-US" dirty="0" err="1"/>
              <a:t>세포주를</a:t>
            </a:r>
            <a:r>
              <a:rPr lang="ko-KR" altLang="en-US" dirty="0"/>
              <a:t> 약 </a:t>
            </a:r>
            <a:r>
              <a:rPr lang="en-US" altLang="ko-KR" dirty="0"/>
              <a:t>2</a:t>
            </a:r>
            <a:r>
              <a:rPr lang="ko-KR" altLang="en-US" dirty="0"/>
              <a:t>만 개의 </a:t>
            </a:r>
            <a:r>
              <a:rPr lang="en" altLang="ko-KR" dirty="0"/>
              <a:t>mutation</a:t>
            </a:r>
            <a:r>
              <a:rPr lang="ko-KR" altLang="en-US" dirty="0"/>
              <a:t>이 존재하는지 여부를 나타내는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의 데이터로 표현했습니다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예측 대상은 유전체 불안정성을 나타내는 </a:t>
            </a:r>
            <a:r>
              <a:rPr lang="en" altLang="ko-KR" dirty="0"/>
              <a:t>WGD, CIN, LOH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dirty="0"/>
              <a:t>각각을 </a:t>
            </a:r>
            <a:r>
              <a:rPr lang="en" altLang="ko-KR" dirty="0"/>
              <a:t>high</a:t>
            </a:r>
            <a:r>
              <a:rPr lang="ko-KR" altLang="en-US" dirty="0"/>
              <a:t>와 </a:t>
            </a:r>
            <a:r>
              <a:rPr lang="en" altLang="ko-KR" dirty="0"/>
              <a:t>low </a:t>
            </a:r>
            <a:r>
              <a:rPr lang="ko-KR" altLang="en-US" dirty="0"/>
              <a:t>두 그룹으로 나눴습니다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모델의 성능을 최대한 공정하게 평가하기 위해 </a:t>
            </a:r>
            <a:r>
              <a:rPr lang="en-US" altLang="ko-KR" dirty="0"/>
              <a:t>5×3 </a:t>
            </a:r>
            <a:r>
              <a:rPr lang="en" altLang="ko-KR" dirty="0"/>
              <a:t>Nested Cross-Validation</a:t>
            </a:r>
            <a:r>
              <a:rPr lang="ko-KR" altLang="en-US" dirty="0"/>
              <a:t>을 사용했습니다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바깥쪽 </a:t>
            </a:r>
            <a:r>
              <a:rPr lang="en-US" altLang="ko-KR" dirty="0"/>
              <a:t>5-</a:t>
            </a:r>
            <a:r>
              <a:rPr lang="en" altLang="ko-KR" dirty="0"/>
              <a:t>Fold </a:t>
            </a:r>
            <a:r>
              <a:rPr lang="ko-KR" altLang="en-US" dirty="0"/>
              <a:t>교차검증에서는 전체 데이터를 학습 데이터 </a:t>
            </a:r>
            <a:r>
              <a:rPr lang="en-US" altLang="ko-KR" dirty="0"/>
              <a:t>80%</a:t>
            </a:r>
            <a:r>
              <a:rPr lang="ko-KR" altLang="en-US" dirty="0"/>
              <a:t>와 테스트 데이터 </a:t>
            </a:r>
            <a:r>
              <a:rPr lang="en-US" altLang="ko-KR" dirty="0"/>
              <a:t>20%</a:t>
            </a:r>
            <a:r>
              <a:rPr lang="ko-KR" altLang="en-US" dirty="0"/>
              <a:t>로 나눴습니다</a:t>
            </a:r>
            <a:r>
              <a:rPr lang="en-US" altLang="ko-KR" dirty="0"/>
              <a:t>. </a:t>
            </a:r>
            <a:r>
              <a:rPr lang="ko-KR" altLang="en-US" dirty="0"/>
              <a:t>이때 테스트 데이터는 최종 성능을 평가할 때만 사용했습니다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학습 데이터 내부에서는 다시 </a:t>
            </a:r>
            <a:r>
              <a:rPr lang="en-US" altLang="ko-KR" dirty="0"/>
              <a:t>3-</a:t>
            </a:r>
            <a:r>
              <a:rPr lang="en" altLang="ko-KR" dirty="0"/>
              <a:t>Fold </a:t>
            </a:r>
            <a:r>
              <a:rPr lang="ko-KR" altLang="en-US" dirty="0" err="1"/>
              <a:t>교차검증을</a:t>
            </a:r>
            <a:r>
              <a:rPr lang="ko-KR" altLang="en-US" dirty="0"/>
              <a:t> 수행해 모델의 </a:t>
            </a:r>
            <a:r>
              <a:rPr lang="ko-KR" altLang="en-US" dirty="0" err="1"/>
              <a:t>하이퍼파라미터를</a:t>
            </a:r>
            <a:r>
              <a:rPr lang="ko-KR" altLang="en-US" dirty="0"/>
              <a:t> 선택했습니다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최적의 조건이 결정되면 바깥쪽 학습 데이터 전체로 모델을 다시 학습하고</a:t>
            </a:r>
            <a:r>
              <a:rPr lang="en-US" altLang="ko-KR" dirty="0"/>
              <a:t>, </a:t>
            </a:r>
            <a:r>
              <a:rPr lang="ko-KR" altLang="en-US" dirty="0"/>
              <a:t>처음부터 분리해 둔 테스트 데이터의 </a:t>
            </a:r>
            <a:r>
              <a:rPr lang="en" altLang="ko-KR" dirty="0"/>
              <a:t>WGD, CIN, LOH</a:t>
            </a:r>
            <a:r>
              <a:rPr lang="ko-KR" altLang="en-US" dirty="0" err="1"/>
              <a:t>를</a:t>
            </a:r>
            <a:r>
              <a:rPr lang="ko-KR" altLang="en-US" dirty="0"/>
              <a:t> 예측했습니다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과정을 </a:t>
            </a:r>
            <a:r>
              <a:rPr lang="en-US" altLang="ko-KR" dirty="0"/>
              <a:t>5</a:t>
            </a:r>
            <a:r>
              <a:rPr lang="ko-KR" altLang="en-US" dirty="0"/>
              <a:t>개의 </a:t>
            </a:r>
            <a:r>
              <a:rPr lang="en" altLang="ko-KR" dirty="0"/>
              <a:t>Outer Fold</a:t>
            </a:r>
            <a:r>
              <a:rPr lang="ko-KR" altLang="en-US" dirty="0"/>
              <a:t>에서 반복하고</a:t>
            </a:r>
            <a:r>
              <a:rPr lang="en-US" altLang="ko-KR" dirty="0"/>
              <a:t>, </a:t>
            </a:r>
            <a:r>
              <a:rPr lang="ko-KR" altLang="en-US" dirty="0"/>
              <a:t>각 테스트 결과의 평균을 최종 성능으로 사용했습니다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" altLang="ko-KR" dirty="0"/>
              <a:t>Logistic Regression, Elastic Net, Random Forest, </a:t>
            </a:r>
            <a:r>
              <a:rPr lang="en" altLang="ko-KR" dirty="0" err="1"/>
              <a:t>XGBoost</a:t>
            </a:r>
            <a:r>
              <a:rPr lang="en" altLang="ko-KR" dirty="0"/>
              <a:t>, ANN</a:t>
            </a:r>
            <a:r>
              <a:rPr lang="ko-KR" altLang="en-US" dirty="0"/>
              <a:t>을 비교했으며</a:t>
            </a:r>
            <a:r>
              <a:rPr lang="en-US" altLang="ko-KR" dirty="0"/>
              <a:t>, </a:t>
            </a:r>
            <a:r>
              <a:rPr lang="en" altLang="ko-KR" dirty="0"/>
              <a:t>WGD, CIN, LOH </a:t>
            </a:r>
            <a:r>
              <a:rPr lang="ko-KR" altLang="en-US" dirty="0"/>
              <a:t>각각에 대해 예측 확률을 출력했습니다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중 </a:t>
            </a:r>
            <a:r>
              <a:rPr lang="en" altLang="ko-KR" dirty="0"/>
              <a:t>Random Forest</a:t>
            </a:r>
            <a:r>
              <a:rPr lang="ko-KR" altLang="en-US" dirty="0"/>
              <a:t>가 세 표현형에서 전반적으로 가장 높은 성능을 보였습니다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마지막으로 반복적으로 중요하게 선택되는 </a:t>
            </a:r>
            <a:r>
              <a:rPr lang="en" altLang="ko-KR" dirty="0"/>
              <a:t>mutation</a:t>
            </a:r>
            <a:r>
              <a:rPr lang="ko-KR" altLang="en-US" dirty="0"/>
              <a:t>만 남겨 </a:t>
            </a:r>
            <a:r>
              <a:rPr lang="en-US" altLang="ko-KR" dirty="0"/>
              <a:t>5</a:t>
            </a:r>
            <a:r>
              <a:rPr lang="ko-KR" altLang="en-US" dirty="0"/>
              <a:t>개</a:t>
            </a:r>
            <a:r>
              <a:rPr lang="en-US" altLang="ko-KR" dirty="0"/>
              <a:t>, 10</a:t>
            </a:r>
            <a:r>
              <a:rPr lang="ko-KR" altLang="en-US" dirty="0"/>
              <a:t>개</a:t>
            </a:r>
            <a:r>
              <a:rPr lang="en-US" altLang="ko-KR" dirty="0"/>
              <a:t>, 20</a:t>
            </a:r>
            <a:r>
              <a:rPr lang="ko-KR" altLang="en-US" dirty="0"/>
              <a:t>개 등의 소형 패널을 만들고</a:t>
            </a:r>
            <a:r>
              <a:rPr lang="en-US" altLang="ko-KR" dirty="0"/>
              <a:t>,</a:t>
            </a:r>
            <a:r>
              <a:rPr lang="ko-KR" altLang="en-US" dirty="0"/>
              <a:t> 패널 크기를 줄였을 때도 예측 성능이 얼마나 유지되는지 평가했습니다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525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WGD</a:t>
            </a:r>
            <a:r>
              <a:rPr kumimoji="1" lang="ko-KR" altLang="en-US" dirty="0"/>
              <a:t>는 이진법으로 나눌 수 있는 데이터였고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CIN, LOH</a:t>
            </a:r>
            <a:r>
              <a:rPr kumimoji="1" lang="ko-KR" altLang="en-US" dirty="0"/>
              <a:t>는 </a:t>
            </a:r>
            <a:r>
              <a:rPr kumimoji="1" lang="ko-KR" altLang="en-US" dirty="0" err="1"/>
              <a:t>연속형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수치형</a:t>
            </a:r>
            <a:r>
              <a:rPr kumimoji="1" lang="ko-KR" altLang="en-US" dirty="0"/>
              <a:t> 데이터였는데 중앙값을 기준으로 이진법으로 나눠서 기존보다 크면 </a:t>
            </a:r>
            <a:r>
              <a:rPr kumimoji="1" lang="en-US" altLang="ko-KR" dirty="0"/>
              <a:t>1,</a:t>
            </a:r>
            <a:r>
              <a:rPr kumimoji="1" lang="ko-KR" altLang="en-US" dirty="0"/>
              <a:t> 작으면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학습에 사용함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변이 관측 </a:t>
            </a:r>
            <a:r>
              <a:rPr kumimoji="1" lang="ko-KR" altLang="en-US" dirty="0" err="1"/>
              <a:t>세포주수</a:t>
            </a:r>
            <a:r>
              <a:rPr kumimoji="1" lang="ko-KR" altLang="en-US" dirty="0"/>
              <a:t>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en-US" altLang="ko-KR" dirty="0"/>
              <a:t>1.0</a:t>
            </a:r>
            <a:r>
              <a:rPr kumimoji="1" lang="ko-KR" altLang="en-US" dirty="0"/>
              <a:t> 이상 값 </a:t>
            </a:r>
            <a:r>
              <a:rPr kumimoji="1" lang="en-US" altLang="ko-KR" dirty="0"/>
              <a:t>10</a:t>
            </a:r>
            <a:r>
              <a:rPr kumimoji="1" lang="ko-KR" altLang="en-US" dirty="0"/>
              <a:t>개보다 적은 세포주에서만 나타나는 희귀한 </a:t>
            </a:r>
            <a:r>
              <a:rPr kumimoji="1" lang="en-US" altLang="ko-KR" dirty="0"/>
              <a:t>mutation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구분되기 때문에 제거 후 사용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----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연속적인 숫자들을 맞추고 싶은 </a:t>
            </a:r>
            <a:r>
              <a:rPr kumimoji="1" lang="ko-KR" altLang="en-US" dirty="0" err="1"/>
              <a:t>걸루</a:t>
            </a:r>
            <a:endParaRPr kumimoji="1" lang="en-US" altLang="ko-KR" dirty="0"/>
          </a:p>
          <a:p>
            <a:r>
              <a:rPr kumimoji="1" lang="en-US" altLang="ko-KR" dirty="0"/>
              <a:t>WGD -&gt; 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분류문제</a:t>
            </a:r>
            <a:r>
              <a:rPr kumimoji="1" lang="ko-KR" altLang="en-US" dirty="0"/>
              <a:t> </a:t>
            </a:r>
            <a:r>
              <a:rPr kumimoji="1" lang="en-US" altLang="ko-KR" dirty="0"/>
              <a:t>/</a:t>
            </a:r>
            <a:r>
              <a:rPr kumimoji="1" lang="ko-KR" altLang="en-US" dirty="0"/>
              <a:t> 나머지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연속형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수치형</a:t>
            </a:r>
            <a:r>
              <a:rPr kumimoji="1" lang="ko-KR" altLang="en-US" dirty="0"/>
              <a:t> 데이터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회귀문제</a:t>
            </a:r>
            <a:r>
              <a:rPr kumimoji="1" lang="en-US" altLang="ko-KR" dirty="0"/>
              <a:t>.</a:t>
            </a:r>
            <a:r>
              <a:rPr kumimoji="1" lang="ko-KR" altLang="en-US" dirty="0"/>
              <a:t> 임의로 </a:t>
            </a:r>
            <a:r>
              <a:rPr kumimoji="1" lang="ko-KR" altLang="en-US" dirty="0" err="1"/>
              <a:t>분류문제로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바꾼거라</a:t>
            </a:r>
            <a:r>
              <a:rPr kumimoji="1" lang="ko-KR" altLang="en-US" dirty="0"/>
              <a:t> 성능 낮아질 수도 있음</a:t>
            </a:r>
            <a:r>
              <a:rPr kumimoji="1" lang="en-US" altLang="ko-KR" dirty="0"/>
              <a:t>.</a:t>
            </a:r>
            <a:r>
              <a:rPr kumimoji="1" lang="ko-KR" altLang="en-US" dirty="0"/>
              <a:t> 그게 정상적인 형태</a:t>
            </a:r>
            <a:r>
              <a:rPr kumimoji="1" lang="en-US" altLang="ko-KR" dirty="0"/>
              <a:t>…</a:t>
            </a:r>
          </a:p>
          <a:p>
            <a:r>
              <a:rPr kumimoji="1" lang="ko-KR" altLang="en-US" dirty="0" err="1"/>
              <a:t>연속형</a:t>
            </a:r>
            <a:r>
              <a:rPr kumimoji="1" lang="ko-KR" altLang="en-US" dirty="0"/>
              <a:t> 분포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LoH</a:t>
            </a:r>
            <a:r>
              <a:rPr kumimoji="1" lang="ko-KR" altLang="en-US" dirty="0"/>
              <a:t>는 깔끔한 편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en-US" altLang="ko-KR" dirty="0"/>
              <a:t>CIN</a:t>
            </a:r>
            <a:r>
              <a:rPr kumimoji="1" lang="ko-KR" altLang="en-US" dirty="0"/>
              <a:t>는 덩어리를 쪼개서 봐야할 수도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lang="ko-KR" altLang="en-US" dirty="0"/>
              <a:t>모델을 학습하기 전에 먼저 </a:t>
            </a:r>
            <a:r>
              <a:rPr lang="en" altLang="ko-KR" dirty="0"/>
              <a:t>WGD, CIN, LOH </a:t>
            </a:r>
            <a:r>
              <a:rPr lang="ko-KR" altLang="en-US" dirty="0"/>
              <a:t>라벨의 분포를 확인했습니다</a:t>
            </a:r>
            <a:r>
              <a:rPr lang="en-US" altLang="ko-KR" dirty="0"/>
              <a:t>. </a:t>
            </a:r>
            <a:r>
              <a:rPr lang="ko-KR" altLang="en-US" dirty="0"/>
              <a:t>세 표현형의 양성</a:t>
            </a:r>
            <a:r>
              <a:rPr lang="en-US" altLang="ko-KR" dirty="0"/>
              <a:t>·</a:t>
            </a:r>
            <a:r>
              <a:rPr lang="ko-KR" altLang="en-US" dirty="0"/>
              <a:t>음성 비율과 </a:t>
            </a:r>
            <a:r>
              <a:rPr lang="ko-KR" altLang="en-US" dirty="0" err="1"/>
              <a:t>연속형</a:t>
            </a:r>
            <a:r>
              <a:rPr lang="ko-KR" altLang="en-US" dirty="0"/>
              <a:t> 지표의 분포가 서로 다르기 때문에</a:t>
            </a:r>
            <a:r>
              <a:rPr lang="en-US" altLang="ko-KR" dirty="0"/>
              <a:t>, </a:t>
            </a:r>
            <a:r>
              <a:rPr lang="ko-KR" altLang="en-US" dirty="0"/>
              <a:t>단순 정확도만으로는 모델을 평가하기 어렵다고 판단했습니다</a:t>
            </a:r>
            <a:r>
              <a:rPr lang="en-US" altLang="ko-KR" dirty="0"/>
              <a:t>. </a:t>
            </a:r>
            <a:r>
              <a:rPr lang="ko-KR" altLang="en-US" dirty="0"/>
              <a:t>따라서 이후 모델 평가에서는 </a:t>
            </a:r>
            <a:r>
              <a:rPr lang="en" altLang="ko-KR" dirty="0"/>
              <a:t>ROC-AUC</a:t>
            </a:r>
            <a:r>
              <a:rPr lang="ko-KR" altLang="en-US" dirty="0"/>
              <a:t>와 함께 </a:t>
            </a:r>
            <a:r>
              <a:rPr lang="en" altLang="ko-KR" dirty="0"/>
              <a:t>PR-AUC, Balanced Accuracy</a:t>
            </a:r>
            <a:r>
              <a:rPr lang="ko-KR" altLang="en-US" dirty="0" err="1"/>
              <a:t>를</a:t>
            </a:r>
            <a:r>
              <a:rPr lang="ko-KR" altLang="en-US" dirty="0"/>
              <a:t> 같이 확인했습니다</a:t>
            </a:r>
            <a:r>
              <a:rPr lang="en-US" altLang="ko-KR" dirty="0"/>
              <a:t>.</a:t>
            </a:r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668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ROC-AUC</a:t>
            </a:r>
            <a:r>
              <a:rPr lang="ko-KR" altLang="en-US" dirty="0"/>
              <a:t>는 양성과 음성을 전반적으로 얼마나 잘 구분하는지를 나타내고</a:t>
            </a:r>
            <a:r>
              <a:rPr lang="en-US" altLang="ko-KR" dirty="0"/>
              <a:t>, </a:t>
            </a:r>
            <a:r>
              <a:rPr lang="en" altLang="ko-KR" dirty="0"/>
              <a:t>PR-AUC</a:t>
            </a:r>
            <a:r>
              <a:rPr lang="ko-KR" altLang="en-US" dirty="0"/>
              <a:t>는 실제 양성을 얼마나 정확하게 찾아내는지를 보여줍니다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 err="1"/>
              <a:t>오차막대는</a:t>
            </a:r>
            <a:r>
              <a:rPr kumimoji="1" lang="ko-KR" altLang="en-US" dirty="0"/>
              <a:t> </a:t>
            </a:r>
            <a:r>
              <a:rPr kumimoji="1" lang="en-US" altLang="ko-KR" dirty="0"/>
              <a:t>fold</a:t>
            </a:r>
            <a:r>
              <a:rPr kumimoji="1" lang="ko-KR" altLang="en-US" dirty="0"/>
              <a:t> 표준편차를 의미</a:t>
            </a:r>
            <a:endParaRPr kumimoji="1" lang="en-US" altLang="ko-KR" dirty="0"/>
          </a:p>
          <a:p>
            <a:endParaRPr lang="en-US" altLang="ko-KR" dirty="0"/>
          </a:p>
          <a:p>
            <a:r>
              <a:rPr lang="en" altLang="ko-KR" dirty="0"/>
              <a:t>WGD</a:t>
            </a:r>
            <a:r>
              <a:rPr lang="ko-KR" altLang="en-US" dirty="0"/>
              <a:t>는 양성 비율이 높아 </a:t>
            </a:r>
            <a:r>
              <a:rPr lang="en" altLang="ko-KR" dirty="0"/>
              <a:t>PR-AUC </a:t>
            </a:r>
            <a:r>
              <a:rPr lang="ko-KR" altLang="en-US" dirty="0"/>
              <a:t>기준선도 약 </a:t>
            </a:r>
            <a:r>
              <a:rPr lang="en-US" altLang="ko-KR" dirty="0"/>
              <a:t>0.65</a:t>
            </a:r>
            <a:r>
              <a:rPr lang="ko-KR" altLang="en-US" dirty="0"/>
              <a:t>을 기준으로 두었고</a:t>
            </a:r>
            <a:r>
              <a:rPr lang="en-US" altLang="ko-KR" dirty="0"/>
              <a:t>, </a:t>
            </a:r>
            <a:r>
              <a:rPr lang="ko-KR" altLang="en-US" dirty="0"/>
              <a:t>표현형 간 비교는 </a:t>
            </a:r>
            <a:r>
              <a:rPr lang="en" altLang="ko-KR" dirty="0"/>
              <a:t>ROC-AUC</a:t>
            </a:r>
            <a:r>
              <a:rPr lang="ko-KR" altLang="en-US" dirty="0" err="1"/>
              <a:t>를</a:t>
            </a:r>
            <a:r>
              <a:rPr lang="ko-KR" altLang="en-US" dirty="0"/>
              <a:t> 중심으로 하고 </a:t>
            </a:r>
            <a:r>
              <a:rPr lang="en" altLang="ko-KR" dirty="0"/>
              <a:t>PR-AUC</a:t>
            </a:r>
            <a:r>
              <a:rPr lang="ko-KR" altLang="en-US" dirty="0"/>
              <a:t>는 같은 표현형 내 모델 비교에 활용했습니다</a:t>
            </a:r>
            <a:r>
              <a:rPr lang="en-US" altLang="ko-KR" dirty="0"/>
              <a:t>.</a:t>
            </a:r>
          </a:p>
          <a:p>
            <a:r>
              <a:rPr lang="en" altLang="ko-KR" dirty="0"/>
              <a:t>PR-AUC</a:t>
            </a:r>
            <a:r>
              <a:rPr lang="ko-KR" altLang="en-US" dirty="0"/>
              <a:t>의 무작위 기준은 </a:t>
            </a:r>
            <a:r>
              <a:rPr lang="en-US" altLang="ko-KR" dirty="0"/>
              <a:t>0.5</a:t>
            </a:r>
            <a:r>
              <a:rPr lang="ko-KR" altLang="en-US" dirty="0"/>
              <a:t>로 고정되지 않고 </a:t>
            </a:r>
            <a:r>
              <a:rPr lang="ko-KR" altLang="en-US" b="1" dirty="0"/>
              <a:t>양성 비율</a:t>
            </a:r>
            <a:r>
              <a:rPr lang="ko-KR" altLang="en-US" dirty="0"/>
              <a:t>에 따라 달라집니다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/>
              <a:t>WGD+: 65.2% → </a:t>
            </a:r>
            <a:r>
              <a:rPr lang="ko-KR" altLang="en-US" dirty="0"/>
              <a:t>무작위 기준 약 </a:t>
            </a:r>
            <a:r>
              <a:rPr lang="en-US" altLang="ko-KR" dirty="0"/>
              <a:t>0.65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 err="1"/>
              <a:t>CIN-high·LOH-high</a:t>
            </a:r>
            <a:r>
              <a:rPr lang="en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50% → </a:t>
            </a:r>
            <a:r>
              <a:rPr lang="ko-KR" altLang="en-US" dirty="0"/>
              <a:t>무작위 기준 약 </a:t>
            </a:r>
            <a:r>
              <a:rPr lang="en-US" altLang="ko-KR" dirty="0"/>
              <a:t>0.50</a:t>
            </a:r>
          </a:p>
          <a:p>
            <a:endParaRPr kumimoji="1" lang="ko-KR" altLang="en-US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961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그림은 </a:t>
            </a:r>
            <a:r>
              <a:rPr lang="en-US" altLang="ko-KR" dirty="0"/>
              <a:t>5-</a:t>
            </a:r>
            <a:r>
              <a:rPr lang="en" altLang="ko-KR" dirty="0"/>
              <a:t>fold </a:t>
            </a:r>
            <a:r>
              <a:rPr lang="ko-KR" altLang="en-US" dirty="0"/>
              <a:t>교차검증에서 반복적으로 선택된 유전자 변이를 보여줍니다</a:t>
            </a:r>
            <a:r>
              <a:rPr lang="en-US" altLang="ko-KR" dirty="0"/>
              <a:t>.</a:t>
            </a:r>
          </a:p>
          <a:p>
            <a:r>
              <a:rPr lang="en" altLang="ko-KR" dirty="0"/>
              <a:t>TP53</a:t>
            </a:r>
            <a:r>
              <a:rPr lang="ko-KR" altLang="en-US" dirty="0"/>
              <a:t>가 세 표현형에서 가장 안정적으로 선택됐고</a:t>
            </a:r>
            <a:r>
              <a:rPr lang="en-US" altLang="ko-KR" dirty="0"/>
              <a:t>, </a:t>
            </a:r>
            <a:r>
              <a:rPr lang="en" altLang="ko-KR" dirty="0"/>
              <a:t>RB1 </a:t>
            </a:r>
            <a:r>
              <a:rPr lang="ko-KR" altLang="en-US" dirty="0"/>
              <a:t>등 기존 유전체 불안정성 관련 유전자도 확인되어 모델의 생물학적 타당성을 뒷받침했습니다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</a:t>
            </a:r>
            <a:r>
              <a:rPr lang="en" altLang="ko-KR" dirty="0"/>
              <a:t>PDS5B, PITX1, SLFN11 </a:t>
            </a:r>
            <a:r>
              <a:rPr lang="ko-KR" altLang="en-US" dirty="0"/>
              <a:t>같은 </a:t>
            </a:r>
            <a:r>
              <a:rPr lang="ko-KR" altLang="en-US" dirty="0" err="1"/>
              <a:t>비전형적</a:t>
            </a:r>
            <a:r>
              <a:rPr lang="ko-KR" altLang="en-US" dirty="0"/>
              <a:t> 후보도 발견됐습니다</a:t>
            </a:r>
            <a:r>
              <a:rPr lang="en-US" altLang="ko-KR" dirty="0"/>
              <a:t>. </a:t>
            </a:r>
            <a:r>
              <a:rPr lang="ko-KR" altLang="en-US" dirty="0"/>
              <a:t>다만 </a:t>
            </a:r>
            <a:r>
              <a:rPr lang="en" altLang="ko-KR" dirty="0"/>
              <a:t>ID3</a:t>
            </a:r>
            <a:r>
              <a:rPr lang="ko-KR" altLang="en-US" dirty="0" err="1"/>
              <a:t>처럼</a:t>
            </a:r>
            <a:r>
              <a:rPr lang="ko-KR" altLang="en-US" dirty="0"/>
              <a:t> </a:t>
            </a:r>
            <a:r>
              <a:rPr lang="ko-KR" altLang="en-US" dirty="0" err="1"/>
              <a:t>암종</a:t>
            </a:r>
            <a:r>
              <a:rPr lang="ko-KR" altLang="en-US" dirty="0"/>
              <a:t> 특성을 반영하거나</a:t>
            </a:r>
            <a:r>
              <a:rPr lang="en-US" altLang="ko-KR" dirty="0"/>
              <a:t>, </a:t>
            </a:r>
            <a:r>
              <a:rPr lang="en" altLang="ko-KR" dirty="0"/>
              <a:t>TTN</a:t>
            </a:r>
            <a:r>
              <a:rPr lang="ko-KR" altLang="en-US" dirty="0" err="1"/>
              <a:t>처럼</a:t>
            </a:r>
            <a:r>
              <a:rPr lang="ko-KR" altLang="en-US" dirty="0"/>
              <a:t> 전체 </a:t>
            </a:r>
            <a:r>
              <a:rPr lang="ko-KR" altLang="en-US" dirty="0" err="1"/>
              <a:t>돌연변이량을</a:t>
            </a:r>
            <a:r>
              <a:rPr lang="ko-KR" altLang="en-US" dirty="0"/>
              <a:t> 대신 나타낸 유전자도 있을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새로운 원인 유전자를 </a:t>
            </a:r>
            <a:r>
              <a:rPr lang="ko-KR" altLang="en-US" dirty="0" err="1"/>
              <a:t>확정했다기보다</a:t>
            </a:r>
            <a:r>
              <a:rPr lang="en-US" altLang="ko-KR" dirty="0"/>
              <a:t>, </a:t>
            </a:r>
            <a:r>
              <a:rPr lang="ko-KR" altLang="en-US" dirty="0"/>
              <a:t>반복적으로 재현되는 예측 </a:t>
            </a:r>
            <a:r>
              <a:rPr lang="ko-KR" altLang="en-US" dirty="0" err="1"/>
              <a:t>바이오마커</a:t>
            </a:r>
            <a:r>
              <a:rPr lang="ko-KR" altLang="en-US" dirty="0"/>
              <a:t> 후보를 선별한 결과로 해석했습니다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" altLang="ko-KR" b="1" dirty="0"/>
          </a:p>
          <a:p>
            <a:pPr>
              <a:buFont typeface="Arial" panose="020B0604020202020204" pitchFamily="34" charset="0"/>
              <a:buNone/>
            </a:pPr>
            <a:r>
              <a:rPr lang="en" altLang="ko-KR" b="1" dirty="0"/>
              <a:t>* </a:t>
            </a:r>
            <a:r>
              <a:rPr lang="ko-KR" altLang="en-US" dirty="0"/>
              <a:t>전체적으로는 중복을 포함해 **</a:t>
            </a:r>
            <a:r>
              <a:rPr lang="en-US" altLang="ko-KR" dirty="0"/>
              <a:t>58</a:t>
            </a:r>
            <a:r>
              <a:rPr lang="ko-KR" altLang="en-US" dirty="0"/>
              <a:t>개 항목 중 </a:t>
            </a:r>
            <a:r>
              <a:rPr lang="en-US" altLang="ko-KR" dirty="0"/>
              <a:t>11</a:t>
            </a:r>
            <a:r>
              <a:rPr lang="ko-KR" altLang="en-US" dirty="0"/>
              <a:t>개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19%)**</a:t>
            </a:r>
            <a:endParaRPr lang="en" altLang="ko-KR" b="1" dirty="0"/>
          </a:p>
          <a:p>
            <a:pPr>
              <a:buFont typeface="Arial" panose="020B0604020202020204" pitchFamily="34" charset="0"/>
              <a:buNone/>
            </a:pPr>
            <a:r>
              <a:rPr lang="en" altLang="ko-KR" b="1" dirty="0"/>
              <a:t>* fold 1.0</a:t>
            </a:r>
            <a:r>
              <a:rPr lang="ko-KR" altLang="en-US" b="1" dirty="0"/>
              <a:t>에서 연관성 </a:t>
            </a:r>
            <a:r>
              <a:rPr lang="ko-KR" altLang="en-US" b="1" dirty="0" err="1"/>
              <a:t>낮음인</a:t>
            </a:r>
            <a:r>
              <a:rPr lang="ko-KR" altLang="en-US" b="1" dirty="0"/>
              <a:t> 유전자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ko-KR" b="1" dirty="0"/>
              <a:t>- </a:t>
            </a:r>
            <a:r>
              <a:rPr lang="en" altLang="ko-KR" b="1" dirty="0"/>
              <a:t>WGD: fold 1.0</a:t>
            </a:r>
            <a:r>
              <a:rPr lang="ko-KR" altLang="en-US" b="1" dirty="0"/>
              <a:t>인 </a:t>
            </a:r>
            <a:r>
              <a:rPr lang="en-US" altLang="ko-KR" b="1" dirty="0"/>
              <a:t>19</a:t>
            </a:r>
            <a:r>
              <a:rPr lang="ko-KR" altLang="en-US" b="1" dirty="0"/>
              <a:t>개 중 </a:t>
            </a:r>
            <a:r>
              <a:rPr lang="en-US" altLang="ko-KR" b="1" dirty="0"/>
              <a:t>4</a:t>
            </a:r>
            <a:r>
              <a:rPr lang="ko-KR" altLang="en-US" b="1" dirty="0"/>
              <a:t>개</a:t>
            </a:r>
          </a:p>
          <a:p>
            <a:pPr>
              <a:buFont typeface="Arial" panose="020B0604020202020204" pitchFamily="34" charset="0"/>
              <a:buNone/>
            </a:pPr>
            <a:r>
              <a:rPr lang="ko-KR" altLang="en-US" b="1" dirty="0"/>
              <a:t>  </a:t>
            </a:r>
            <a:r>
              <a:rPr lang="en" altLang="ko-KR" b="1" dirty="0"/>
              <a:t>LRP1B, TTN, GNA13, RPL22</a:t>
            </a:r>
          </a:p>
          <a:p>
            <a:pPr>
              <a:buFont typeface="Arial" panose="020B0604020202020204" pitchFamily="34" charset="0"/>
              <a:buNone/>
            </a:pPr>
            <a:endParaRPr lang="en" altLang="ko-KR" b="1" dirty="0"/>
          </a:p>
          <a:p>
            <a:pPr>
              <a:buFont typeface="Arial" panose="020B0604020202020204" pitchFamily="34" charset="0"/>
              <a:buNone/>
            </a:pPr>
            <a:r>
              <a:rPr lang="en" altLang="ko-KR" b="1" dirty="0"/>
              <a:t>- CIN: 21</a:t>
            </a:r>
            <a:r>
              <a:rPr lang="ko-KR" altLang="en-US" b="1" dirty="0"/>
              <a:t>개 중 </a:t>
            </a:r>
            <a:r>
              <a:rPr lang="en-US" altLang="ko-KR" b="1" dirty="0"/>
              <a:t>4</a:t>
            </a:r>
            <a:r>
              <a:rPr lang="ko-KR" altLang="en-US" b="1" dirty="0"/>
              <a:t>개</a:t>
            </a:r>
          </a:p>
          <a:p>
            <a:pPr>
              <a:buFont typeface="Arial" panose="020B0604020202020204" pitchFamily="34" charset="0"/>
              <a:buNone/>
            </a:pPr>
            <a:r>
              <a:rPr lang="ko-KR" altLang="en-US" b="1" dirty="0"/>
              <a:t>  </a:t>
            </a:r>
            <a:r>
              <a:rPr lang="en" altLang="ko-KR" b="1" dirty="0"/>
              <a:t>LRP1B, MUC19, TTN, RYR2</a:t>
            </a:r>
          </a:p>
          <a:p>
            <a:pPr>
              <a:buFont typeface="Arial" panose="020B0604020202020204" pitchFamily="34" charset="0"/>
              <a:buNone/>
            </a:pPr>
            <a:endParaRPr lang="en" altLang="ko-KR" b="1" dirty="0"/>
          </a:p>
          <a:p>
            <a:pPr>
              <a:buFont typeface="Arial" panose="020B0604020202020204" pitchFamily="34" charset="0"/>
              <a:buNone/>
            </a:pPr>
            <a:r>
              <a:rPr lang="en" altLang="ko-KR" b="1" dirty="0"/>
              <a:t>- LOH: 18</a:t>
            </a:r>
            <a:r>
              <a:rPr lang="ko-KR" altLang="en-US" b="1" dirty="0"/>
              <a:t>개 중 </a:t>
            </a:r>
            <a:r>
              <a:rPr lang="en-US" altLang="ko-KR" b="1" dirty="0"/>
              <a:t>3</a:t>
            </a:r>
            <a:r>
              <a:rPr lang="ko-KR" altLang="en-US" b="1" dirty="0"/>
              <a:t>개</a:t>
            </a:r>
          </a:p>
          <a:p>
            <a:pPr>
              <a:buFont typeface="Arial" panose="020B0604020202020204" pitchFamily="34" charset="0"/>
              <a:buNone/>
            </a:pPr>
            <a:r>
              <a:rPr lang="ko-KR" altLang="en-US" b="1" dirty="0"/>
              <a:t>  </a:t>
            </a:r>
            <a:r>
              <a:rPr lang="en" altLang="ko-KR" b="1" dirty="0"/>
              <a:t>MUC19, RPL22, TTN</a:t>
            </a:r>
          </a:p>
          <a:p>
            <a:pPr>
              <a:buFont typeface="Arial" panose="020B0604020202020204" pitchFamily="34" charset="0"/>
              <a:buChar char="•"/>
            </a:pPr>
            <a:endParaRPr lang="en" altLang="ko-KR" b="1" dirty="0"/>
          </a:p>
          <a:p>
            <a:pPr>
              <a:buFont typeface="Arial" panose="020B0604020202020204" pitchFamily="34" charset="0"/>
              <a:buChar char="•"/>
            </a:pPr>
            <a:endParaRPr lang="en" altLang="ko-K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b="1" dirty="0"/>
              <a:t>Damaging mutation (dmg)</a:t>
            </a:r>
            <a:br>
              <a:rPr lang="en" altLang="ko-KR" dirty="0"/>
            </a:br>
            <a:r>
              <a:rPr lang="ko-KR" altLang="en-US" dirty="0"/>
              <a:t>단백질 기능을 손상시킬 가능성이 높은 변이입니다</a:t>
            </a:r>
            <a:r>
              <a:rPr lang="en-US" altLang="ko-KR" dirty="0"/>
              <a:t>. </a:t>
            </a:r>
            <a:r>
              <a:rPr lang="ko-KR" altLang="en-US" dirty="0"/>
              <a:t>대표적으로 </a:t>
            </a:r>
            <a:r>
              <a:rPr lang="en" altLang="ko-KR" dirty="0"/>
              <a:t>frameshift, nonsense, splice-site </a:t>
            </a:r>
            <a:r>
              <a:rPr lang="ko-KR" altLang="en-US" dirty="0"/>
              <a:t>변이와 기능 손상으로 예측된 </a:t>
            </a:r>
            <a:r>
              <a:rPr lang="en" altLang="ko-KR" dirty="0"/>
              <a:t>missense </a:t>
            </a:r>
            <a:r>
              <a:rPr lang="ko-KR" altLang="en-US" dirty="0"/>
              <a:t>변이가 포함됩니다</a:t>
            </a:r>
            <a:r>
              <a:rPr lang="en-US" altLang="ko-KR" dirty="0"/>
              <a:t>. </a:t>
            </a:r>
            <a:r>
              <a:rPr lang="ko-KR" altLang="en-US" dirty="0"/>
              <a:t>주로 </a:t>
            </a:r>
            <a:r>
              <a:rPr lang="ko-KR" altLang="en-US" b="1" dirty="0"/>
              <a:t>종양억제유전자의 기능 상실</a:t>
            </a:r>
            <a:r>
              <a:rPr lang="ko-KR" altLang="en-US" dirty="0"/>
              <a:t>을 반영합니다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TP53 (dmg), RB1 (dmg)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b="1" dirty="0"/>
              <a:t>Hotspot mutation (</a:t>
            </a:r>
            <a:r>
              <a:rPr lang="en" altLang="ko-KR" b="1" dirty="0" err="1"/>
              <a:t>hs</a:t>
            </a:r>
            <a:r>
              <a:rPr lang="en" altLang="ko-KR" b="1" dirty="0"/>
              <a:t>)</a:t>
            </a:r>
            <a:br>
              <a:rPr lang="en" altLang="ko-KR" dirty="0"/>
            </a:br>
            <a:r>
              <a:rPr lang="ko-KR" altLang="en-US" dirty="0"/>
              <a:t>여러 암 샘플에서 특정 위치에 반복적으로 나타나는 변이입니다</a:t>
            </a:r>
            <a:r>
              <a:rPr lang="en-US" altLang="ko-KR" dirty="0"/>
              <a:t>. </a:t>
            </a:r>
            <a:r>
              <a:rPr lang="ko-KR" altLang="en-US" dirty="0"/>
              <a:t>선택적으로 증가한 변이이므로 </a:t>
            </a:r>
            <a:r>
              <a:rPr lang="ko-KR" altLang="en-US" b="1" dirty="0"/>
              <a:t>암 발생을 촉진하는 활성화 변이</a:t>
            </a:r>
            <a:r>
              <a:rPr lang="ko-KR" altLang="en-US" dirty="0"/>
              <a:t>일 가능성이 높으며</a:t>
            </a:r>
            <a:r>
              <a:rPr lang="en-US" altLang="ko-KR" dirty="0"/>
              <a:t>, </a:t>
            </a:r>
            <a:r>
              <a:rPr lang="ko-KR" altLang="en-US" dirty="0"/>
              <a:t>주로 종양유전자에서 관찰됩니다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" altLang="ko-KR" dirty="0"/>
              <a:t>BRAF V600E, KRAS G12D, PIK3CA H1047R</a:t>
            </a:r>
          </a:p>
          <a:p>
            <a:r>
              <a:rPr lang="ko-KR" altLang="en-US" dirty="0"/>
              <a:t>핵심 차이는 </a:t>
            </a:r>
            <a:r>
              <a:rPr lang="en" altLang="ko-KR" b="1" dirty="0"/>
              <a:t>dmg</a:t>
            </a:r>
            <a:r>
              <a:rPr lang="ko-KR" altLang="en-US" b="1" dirty="0"/>
              <a:t>는 기능 손상 가능성</a:t>
            </a:r>
            <a:r>
              <a:rPr lang="en-US" altLang="ko-KR" dirty="0"/>
              <a:t>, </a:t>
            </a:r>
            <a:r>
              <a:rPr lang="en" altLang="ko-KR" b="1" dirty="0" err="1"/>
              <a:t>hs</a:t>
            </a:r>
            <a:r>
              <a:rPr lang="ko-KR" altLang="en-US" b="1" dirty="0"/>
              <a:t>는 특정 위치에서의 반복 </a:t>
            </a:r>
            <a:r>
              <a:rPr lang="ko-KR" altLang="en-US" b="1" dirty="0" err="1"/>
              <a:t>발생성</a:t>
            </a:r>
            <a:r>
              <a:rPr lang="ko-KR" altLang="en-US" dirty="0" err="1"/>
              <a:t>을</a:t>
            </a:r>
            <a:r>
              <a:rPr lang="ko-KR" altLang="en-US" dirty="0"/>
              <a:t> 기준으로 한다는 점입니다</a:t>
            </a:r>
            <a:r>
              <a:rPr lang="en-US" altLang="ko-KR" dirty="0"/>
              <a:t>. </a:t>
            </a:r>
            <a:r>
              <a:rPr lang="ko-KR" altLang="en-US" dirty="0"/>
              <a:t>두 범주는 겹칠 수 있음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479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쪼개는 방법</a:t>
            </a:r>
            <a:endParaRPr lang="en-US" altLang="ko-KR" dirty="0"/>
          </a:p>
          <a:p>
            <a:r>
              <a:rPr lang="ko-KR" altLang="en-US" dirty="0"/>
              <a:t>알고리즘이 잘 맞추는 데이터가 들어있는 경우가 있을 수 있음</a:t>
            </a:r>
            <a:r>
              <a:rPr lang="en-US" altLang="ko-KR" dirty="0"/>
              <a:t>.</a:t>
            </a:r>
            <a:r>
              <a:rPr lang="ko-KR" altLang="en-US" dirty="0"/>
              <a:t> 왼쪽이 그런 경우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우리가 원하는 데이터가 충분히 들어가지 않으면 오른쪽처럼 떨어짐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데이터 불균형을 보여주는 것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우리가 원하는 여러가지 </a:t>
            </a:r>
            <a:r>
              <a:rPr lang="ko-KR" altLang="en-US" dirty="0" err="1"/>
              <a:t>암종의</a:t>
            </a:r>
            <a:r>
              <a:rPr lang="ko-KR" altLang="en-US" dirty="0"/>
              <a:t> 데이터가 충분하지 않은 상태이다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각 </a:t>
            </a:r>
            <a:r>
              <a:rPr lang="ko-KR" altLang="en-US" dirty="0" err="1"/>
              <a:t>암마다</a:t>
            </a:r>
            <a:r>
              <a:rPr lang="ko-KR" altLang="en-US" dirty="0"/>
              <a:t> 데이터가 충분하면 성능이 올라갈 가능성이 있다고 생각했다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r>
              <a:rPr lang="ko-KR" altLang="en-US" dirty="0" err="1"/>
              <a:t>암종을</a:t>
            </a:r>
            <a:r>
              <a:rPr lang="ko-KR" altLang="en-US" dirty="0"/>
              <a:t> 완전히 분리하면 </a:t>
            </a:r>
            <a:r>
              <a:rPr lang="en" altLang="ko-KR" dirty="0"/>
              <a:t>Random Forest</a:t>
            </a:r>
            <a:r>
              <a:rPr lang="ko-KR" altLang="en-US" dirty="0"/>
              <a:t>의 평균 </a:t>
            </a:r>
            <a:r>
              <a:rPr lang="en" altLang="ko-KR" dirty="0"/>
              <a:t>ROC-AUC</a:t>
            </a:r>
            <a:r>
              <a:rPr lang="ko-KR" altLang="en-US" dirty="0"/>
              <a:t>가 약 </a:t>
            </a:r>
            <a:r>
              <a:rPr lang="en-US" altLang="ko-KR" dirty="0"/>
              <a:t>0.05~0.07 </a:t>
            </a:r>
            <a:r>
              <a:rPr lang="ko-KR" altLang="en-US" dirty="0"/>
              <a:t>감소했지만</a:t>
            </a:r>
            <a:r>
              <a:rPr lang="en-US" altLang="ko-KR" dirty="0"/>
              <a:t>, </a:t>
            </a:r>
            <a:r>
              <a:rPr lang="ko-KR" altLang="en-US" dirty="0"/>
              <a:t>모두 무작위 수준보다는 높은 성능을 유지했다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 한 </a:t>
            </a:r>
            <a:r>
              <a:rPr lang="ko-KR" altLang="en-US" dirty="0" err="1"/>
              <a:t>암종씩</a:t>
            </a:r>
            <a:r>
              <a:rPr lang="ko-KR" altLang="en-US" dirty="0"/>
              <a:t> 완전히 제외해 평가한 결과</a:t>
            </a:r>
            <a:r>
              <a:rPr lang="en-US" altLang="ko-KR" dirty="0"/>
              <a:t>, </a:t>
            </a:r>
            <a:r>
              <a:rPr lang="ko-KR" altLang="en-US" dirty="0" err="1"/>
              <a:t>암종에</a:t>
            </a:r>
            <a:r>
              <a:rPr lang="ko-KR" altLang="en-US" dirty="0"/>
              <a:t> 따라 성능 편차가 매우 컸고 일부 </a:t>
            </a:r>
            <a:r>
              <a:rPr lang="ko-KR" altLang="en-US" dirty="0" err="1"/>
              <a:t>암종에서는</a:t>
            </a:r>
            <a:r>
              <a:rPr lang="ko-KR" altLang="en-US" dirty="0"/>
              <a:t> 무작위 수준 이하로 감소했다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</a:t>
            </a:r>
            <a:r>
              <a:rPr lang="en" altLang="ko-KR" dirty="0"/>
              <a:t>mutation </a:t>
            </a:r>
            <a:r>
              <a:rPr lang="ko-KR" altLang="en-US" dirty="0"/>
              <a:t>기반 예측 신호는 일부 </a:t>
            </a:r>
            <a:r>
              <a:rPr lang="ko-KR" altLang="en-US" dirty="0" err="1"/>
              <a:t>암종을</a:t>
            </a:r>
            <a:r>
              <a:rPr lang="ko-KR" altLang="en-US" dirty="0"/>
              <a:t> 넘어 일반화되지만</a:t>
            </a:r>
            <a:r>
              <a:rPr lang="en-US" altLang="ko-KR" dirty="0"/>
              <a:t>, </a:t>
            </a:r>
            <a:r>
              <a:rPr lang="ko-KR" altLang="en-US" dirty="0"/>
              <a:t>모든 </a:t>
            </a:r>
            <a:r>
              <a:rPr lang="ko-KR" altLang="en-US" dirty="0" err="1"/>
              <a:t>암종에서</a:t>
            </a:r>
            <a:r>
              <a:rPr lang="ko-KR" altLang="en-US" dirty="0"/>
              <a:t> 동일하게 작동하는 </a:t>
            </a:r>
            <a:r>
              <a:rPr lang="ko-KR" altLang="en-US" dirty="0" err="1"/>
              <a:t>범암종</a:t>
            </a:r>
            <a:r>
              <a:rPr lang="ko-KR" altLang="en-US" dirty="0"/>
              <a:t> </a:t>
            </a:r>
            <a:r>
              <a:rPr lang="ko-KR" altLang="en-US" dirty="0" err="1"/>
              <a:t>바이오마커라고</a:t>
            </a:r>
            <a:r>
              <a:rPr lang="ko-KR" altLang="en-US" dirty="0"/>
              <a:t> 보기는 어렵다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생물학적 의미와 기계학습 의미 나눠서</a:t>
            </a:r>
            <a:endParaRPr lang="en-US" altLang="ko-KR" dirty="0"/>
          </a:p>
          <a:p>
            <a:r>
              <a:rPr lang="ko-KR" altLang="en-US" dirty="0"/>
              <a:t>생물학적으로는 유전체 불안정성 특성의 관계가 모든 </a:t>
            </a:r>
            <a:r>
              <a:rPr lang="ko-KR" altLang="en-US" dirty="0" err="1"/>
              <a:t>암종에서</a:t>
            </a:r>
            <a:r>
              <a:rPr lang="ko-KR" altLang="en-US" dirty="0"/>
              <a:t> 동일하지 않을 수 있다는 가능성을 데이터를 통해 확인</a:t>
            </a:r>
            <a:endParaRPr lang="en-US" altLang="ko-KR" dirty="0"/>
          </a:p>
          <a:p>
            <a:r>
              <a:rPr lang="ko-KR" altLang="en-US" dirty="0"/>
              <a:t>기계학습적으로는</a:t>
            </a:r>
            <a:r>
              <a:rPr lang="en-US" altLang="ko-KR" dirty="0"/>
              <a:t>..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31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B73B1-D5EE-44EA-B4AE-534D1FD0D0B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223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결과의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자료</a:t>
            </a:r>
            <a:endParaRPr dirty="0"/>
          </a:p>
          <a:p>
            <a:r>
              <a:rPr dirty="0" err="1"/>
              <a:t>WGD의</a:t>
            </a:r>
            <a:r>
              <a:rPr dirty="0"/>
              <a:t> </a:t>
            </a:r>
            <a:r>
              <a:rPr dirty="0" err="1"/>
              <a:t>균형정확도가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높았다</a:t>
            </a:r>
            <a:r>
              <a:rPr dirty="0"/>
              <a:t>(0.715). </a:t>
            </a:r>
            <a:r>
              <a:rPr dirty="0" err="1"/>
              <a:t>CIN·LOH는</a:t>
            </a:r>
            <a:r>
              <a:rPr dirty="0"/>
              <a:t> </a:t>
            </a:r>
            <a:r>
              <a:rPr dirty="0" err="1"/>
              <a:t>민감도보다</a:t>
            </a:r>
            <a:r>
              <a:rPr dirty="0"/>
              <a:t> </a:t>
            </a:r>
            <a:r>
              <a:rPr dirty="0" err="1"/>
              <a:t>특이도가</a:t>
            </a:r>
            <a:r>
              <a:rPr dirty="0"/>
              <a:t> </a:t>
            </a:r>
            <a:r>
              <a:rPr dirty="0" err="1"/>
              <a:t>낮아</a:t>
            </a:r>
            <a:r>
              <a:rPr dirty="0"/>
              <a:t> low </a:t>
            </a:r>
            <a:r>
              <a:rPr dirty="0" err="1"/>
              <a:t>샘플을</a:t>
            </a:r>
            <a:r>
              <a:rPr dirty="0"/>
              <a:t> </a:t>
            </a:r>
            <a:r>
              <a:rPr dirty="0" err="1"/>
              <a:t>high로</a:t>
            </a:r>
            <a:r>
              <a:rPr dirty="0"/>
              <a:t> </a:t>
            </a:r>
            <a:r>
              <a:rPr dirty="0" err="1"/>
              <a:t>예측하는</a:t>
            </a:r>
            <a:r>
              <a:rPr dirty="0"/>
              <a:t> </a:t>
            </a:r>
            <a:r>
              <a:rPr dirty="0" err="1"/>
              <a:t>오류가</a:t>
            </a:r>
            <a:r>
              <a:rPr dirty="0"/>
              <a:t> </a:t>
            </a:r>
            <a:r>
              <a:rPr dirty="0" err="1"/>
              <a:t>상대적으로</a:t>
            </a:r>
            <a:r>
              <a:rPr dirty="0"/>
              <a:t> </a:t>
            </a:r>
            <a:r>
              <a:rPr dirty="0" err="1"/>
              <a:t>많았다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source deck: 결과_정리_AI_bio_project_1조_발표용_수정본.pptx</a:t>
            </a:r>
          </a:p>
          <a:p>
            <a:r>
              <a:rPr dirty="0"/>
              <a:t>- results figure: /Users/wjo9956/Desktop/</a:t>
            </a:r>
            <a:r>
              <a:rPr dirty="0" err="1"/>
              <a:t>범부처</a:t>
            </a:r>
            <a:r>
              <a:rPr dirty="0"/>
              <a:t>/AI </a:t>
            </a:r>
            <a:r>
              <a:rPr dirty="0" err="1"/>
              <a:t>바이오데이터</a:t>
            </a:r>
            <a:r>
              <a:rPr dirty="0"/>
              <a:t> </a:t>
            </a:r>
            <a:r>
              <a:rPr dirty="0" err="1"/>
              <a:t>팀프로젝트</a:t>
            </a:r>
            <a:r>
              <a:rPr dirty="0"/>
              <a:t>/AI-bio-proj-team-1-main/results/figures/fig16_rf_confusion_matrix.png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결과의 검증 및 해석 자료</a:t>
            </a:r>
          </a:p>
          <a:p>
            <a:r>
              <a:t>WGD 성능은 거의 유지됐지만 CIN·LOH에서 특이도가 감소해 위양성이 증가했다. 각 fold에서 독립적으로 뽑은 10개이므로 하나의 고정 패널은 아니다.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팀프로젝트/AI-bio-proj-team-1-main/results/figures/fig19_rf_panel10_confusion_matrix.png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결과의 검증 및 해석 자료</a:t>
            </a:r>
          </a:p>
          <a:p>
            <a:r>
              <a:t>균형정확도는 WGD 0.705, CIN 0.666, LOH 0.666이었다. 10개 패널보다 CIN·LOH의 민감도–특이도 균형이 안정적이다.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팀프로젝트/AI-bio-proj-team-1-main/results/figures/fig20_rf_panel20_confusion_matrix.png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결과의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자료</a:t>
            </a:r>
            <a:endParaRPr lang="en-US" dirty="0"/>
          </a:p>
          <a:p>
            <a:r>
              <a:rPr lang="en" altLang="ko-KR" dirty="0"/>
              <a:t>Random Forest</a:t>
            </a:r>
            <a:r>
              <a:rPr lang="ko-KR" altLang="en-US" dirty="0"/>
              <a:t>는 여러 유전자를 </a:t>
            </a:r>
            <a:r>
              <a:rPr lang="ko-KR" altLang="en-US" b="1" dirty="0"/>
              <a:t>동시에 사용해 예측</a:t>
            </a:r>
            <a:r>
              <a:rPr lang="ko-KR" altLang="en-US" dirty="0"/>
              <a:t>하는 모델인 반면</a:t>
            </a:r>
            <a:r>
              <a:rPr lang="en-US" altLang="ko-KR" dirty="0"/>
              <a:t>, </a:t>
            </a:r>
            <a:r>
              <a:rPr lang="ko-KR" altLang="en-US" dirty="0"/>
              <a:t>이 통계 검정은 기본적으로 </a:t>
            </a:r>
            <a:r>
              <a:rPr lang="ko-KR" altLang="en-US" b="1" dirty="0"/>
              <a:t>각 유전자를 하나씩 독립적으로 비교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두 방법에서 같은 유전자가 나오면</a:t>
            </a:r>
            <a:r>
              <a:rPr lang="en-US" altLang="ko-KR" dirty="0"/>
              <a:t>, “</a:t>
            </a:r>
            <a:r>
              <a:rPr lang="ko-KR" altLang="en-US" dirty="0"/>
              <a:t>모델 내부에서만 중요했던 변수가 아니라 개별 통계 비교에서도 연관성이 </a:t>
            </a:r>
            <a:r>
              <a:rPr lang="ko-KR" altLang="en-US" dirty="0" err="1"/>
              <a:t>확인됐다”는</a:t>
            </a:r>
            <a:r>
              <a:rPr lang="ko-KR" altLang="en-US" dirty="0"/>
              <a:t> 보강 근거가 됩니다</a:t>
            </a:r>
            <a:r>
              <a:rPr lang="en-US" altLang="ko-KR" dirty="0"/>
              <a:t>.</a:t>
            </a:r>
            <a:endParaRPr dirty="0"/>
          </a:p>
          <a:p>
            <a:r>
              <a:rPr dirty="0"/>
              <a:t>TP53 </a:t>
            </a:r>
            <a:r>
              <a:rPr dirty="0" err="1"/>
              <a:t>변이가</a:t>
            </a:r>
            <a:r>
              <a:rPr dirty="0"/>
              <a:t> </a:t>
            </a:r>
            <a:r>
              <a:rPr dirty="0" err="1"/>
              <a:t>세</a:t>
            </a:r>
            <a:r>
              <a:rPr dirty="0"/>
              <a:t> </a:t>
            </a:r>
            <a:r>
              <a:rPr dirty="0" err="1"/>
              <a:t>표현형에서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강한</a:t>
            </a:r>
            <a:r>
              <a:rPr dirty="0"/>
              <a:t> </a:t>
            </a:r>
            <a:r>
              <a:rPr dirty="0" err="1"/>
              <a:t>연관성을</a:t>
            </a:r>
            <a:r>
              <a:rPr dirty="0"/>
              <a:t> </a:t>
            </a:r>
            <a:r>
              <a:rPr dirty="0" err="1"/>
              <a:t>보였다</a:t>
            </a:r>
            <a:r>
              <a:rPr dirty="0"/>
              <a:t>. </a:t>
            </a:r>
            <a:r>
              <a:rPr dirty="0" err="1"/>
              <a:t>다만</a:t>
            </a:r>
            <a:r>
              <a:rPr dirty="0"/>
              <a:t> </a:t>
            </a:r>
            <a:r>
              <a:rPr dirty="0" err="1"/>
              <a:t>통계적</a:t>
            </a:r>
            <a:r>
              <a:rPr dirty="0"/>
              <a:t> </a:t>
            </a:r>
            <a:r>
              <a:rPr dirty="0" err="1"/>
              <a:t>연관성은</a:t>
            </a:r>
            <a:r>
              <a:rPr dirty="0"/>
              <a:t> </a:t>
            </a:r>
            <a:r>
              <a:rPr dirty="0" err="1"/>
              <a:t>인과성이나</a:t>
            </a:r>
            <a:r>
              <a:rPr dirty="0"/>
              <a:t> </a:t>
            </a:r>
            <a:r>
              <a:rPr dirty="0" err="1"/>
              <a:t>교차검증에서의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안정성을</a:t>
            </a:r>
            <a:r>
              <a:rPr dirty="0"/>
              <a:t> </a:t>
            </a:r>
            <a:r>
              <a:rPr dirty="0" err="1"/>
              <a:t>의미하지</a:t>
            </a:r>
            <a:r>
              <a:rPr dirty="0"/>
              <a:t> </a:t>
            </a:r>
            <a:r>
              <a:rPr dirty="0" err="1"/>
              <a:t>않는다</a:t>
            </a:r>
            <a:r>
              <a:rPr dirty="0"/>
              <a:t>.</a:t>
            </a:r>
            <a:endParaRPr lang="en-US" dirty="0"/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 err="1"/>
              <a:t>카이제곱</a:t>
            </a:r>
            <a:r>
              <a:rPr lang="ko-KR" altLang="en-US" b="1" dirty="0"/>
              <a:t> 검정</a:t>
            </a:r>
            <a:r>
              <a:rPr lang="en-US" altLang="ko-KR" b="1" dirty="0"/>
              <a:t>(</a:t>
            </a:r>
            <a:r>
              <a:rPr lang="en" altLang="ko-KR" b="1" dirty="0"/>
              <a:t>Chi-square test)</a:t>
            </a:r>
            <a:r>
              <a:rPr lang="en" altLang="ko-KR" dirty="0"/>
              <a:t>: </a:t>
            </a:r>
            <a:r>
              <a:rPr lang="ko-KR" altLang="en-US" dirty="0"/>
              <a:t>표본 수가 충분할 때 두 항목이 서로 독립인지 검정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b="1" dirty="0"/>
              <a:t>Fisher</a:t>
            </a:r>
            <a:r>
              <a:rPr lang="ko-KR" altLang="en-US" b="1" dirty="0"/>
              <a:t>의 정확 검정</a:t>
            </a:r>
            <a:r>
              <a:rPr lang="en-US" altLang="ko-KR" b="1" dirty="0"/>
              <a:t>(</a:t>
            </a:r>
            <a:r>
              <a:rPr lang="en" altLang="ko-KR" b="1" dirty="0"/>
              <a:t>Fisher’s exact test)</a:t>
            </a:r>
            <a:r>
              <a:rPr lang="en" altLang="ko-KR" dirty="0"/>
              <a:t>: </a:t>
            </a:r>
            <a:r>
              <a:rPr lang="ko-KR" altLang="en-US" dirty="0"/>
              <a:t>표본 수가 작거나 특정 칸의 빈도가 낮을 때 사용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 err="1"/>
              <a:t>오즈비</a:t>
            </a:r>
            <a:r>
              <a:rPr lang="en-US" altLang="ko-KR" b="1" dirty="0"/>
              <a:t>(</a:t>
            </a:r>
            <a:r>
              <a:rPr lang="en" altLang="ko-KR" b="1" dirty="0"/>
              <a:t>OR)</a:t>
            </a:r>
            <a:r>
              <a:rPr lang="en" altLang="ko-KR" dirty="0"/>
              <a:t>: </a:t>
            </a:r>
            <a:r>
              <a:rPr lang="ko-KR" altLang="en-US" dirty="0"/>
              <a:t>변이가 있을 때 </a:t>
            </a:r>
            <a:r>
              <a:rPr lang="en" altLang="ko-KR" dirty="0"/>
              <a:t>WGD·CIN·LOH</a:t>
            </a:r>
            <a:r>
              <a:rPr lang="ko-KR" altLang="en-US" dirty="0"/>
              <a:t>가 나타날 가능성이 얼마나 커지거나 작아지는지 표시</a:t>
            </a:r>
            <a:r>
              <a:rPr lang="en" altLang="ko-KR" dirty="0"/>
              <a:t>OR &gt; 1: </a:t>
            </a:r>
            <a:r>
              <a:rPr lang="ko-KR" altLang="en-US" dirty="0"/>
              <a:t>변이가 해당 현상과 양의 연관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/>
              <a:t>OR &lt; 1: </a:t>
            </a:r>
            <a:r>
              <a:rPr lang="ko-KR" altLang="en-US" dirty="0"/>
              <a:t>변이가 해당 현상과 음의 연관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95% </a:t>
            </a:r>
            <a:r>
              <a:rPr lang="ko-KR" altLang="en-US" b="1" dirty="0"/>
              <a:t>신뢰구간</a:t>
            </a:r>
            <a:r>
              <a:rPr lang="en-US" altLang="ko-KR" b="1" dirty="0"/>
              <a:t>(</a:t>
            </a:r>
            <a:r>
              <a:rPr lang="en" altLang="ko-KR" b="1" dirty="0"/>
              <a:t>CI)</a:t>
            </a:r>
            <a:r>
              <a:rPr lang="en" altLang="ko-KR" dirty="0"/>
              <a:t>: OR </a:t>
            </a:r>
            <a:r>
              <a:rPr lang="ko-KR" altLang="en-US" dirty="0"/>
              <a:t>추정치의 불확실성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b="1" dirty="0"/>
              <a:t>p-value</a:t>
            </a:r>
            <a:r>
              <a:rPr lang="en" altLang="ko-KR" dirty="0"/>
              <a:t>: </a:t>
            </a:r>
            <a:r>
              <a:rPr lang="ko-KR" altLang="en-US" dirty="0"/>
              <a:t>우연히 이런 차이가 관찰될 가능성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b="1" dirty="0"/>
              <a:t>FDR </a:t>
            </a:r>
            <a:r>
              <a:rPr lang="ko-KR" altLang="en-US" b="1" dirty="0"/>
              <a:t>보정</a:t>
            </a:r>
            <a:r>
              <a:rPr lang="en-US" altLang="ko-KR" dirty="0"/>
              <a:t>: </a:t>
            </a:r>
            <a:r>
              <a:rPr lang="ko-KR" altLang="en-US" dirty="0"/>
              <a:t>수천 개 유전자를 동시에 검사하면서 생기는 거짓 양성을 줄이는 </a:t>
            </a:r>
            <a:r>
              <a:rPr lang="ko-KR" altLang="en-US" dirty="0" err="1"/>
              <a:t>다중검정</a:t>
            </a:r>
            <a:r>
              <a:rPr lang="ko-KR" altLang="en-US" dirty="0"/>
              <a:t> 보정</a:t>
            </a:r>
            <a:endParaRPr dirty="0"/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source deck: 결과_정리_AI_bio_project_1조_발표용_수정본.pptx</a:t>
            </a:r>
          </a:p>
          <a:p>
            <a:r>
              <a:rPr dirty="0"/>
              <a:t>- results figure: /Users/wjo9956/Desktop/</a:t>
            </a:r>
            <a:r>
              <a:rPr dirty="0" err="1"/>
              <a:t>범부처</a:t>
            </a:r>
            <a:r>
              <a:rPr dirty="0"/>
              <a:t>/AI </a:t>
            </a:r>
            <a:r>
              <a:rPr dirty="0" err="1"/>
              <a:t>바이오데이터</a:t>
            </a:r>
            <a:r>
              <a:rPr dirty="0"/>
              <a:t> </a:t>
            </a:r>
            <a:r>
              <a:rPr dirty="0" err="1"/>
              <a:t>팀프로젝트</a:t>
            </a:r>
            <a:r>
              <a:rPr dirty="0"/>
              <a:t>/AI-bio-proj-team-1-main/results/figures/fig21_mutation_association.png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결과의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자료</a:t>
            </a:r>
            <a:endParaRPr dirty="0"/>
          </a:p>
          <a:p>
            <a:r>
              <a:rPr dirty="0" err="1"/>
              <a:t>상위</a:t>
            </a:r>
            <a:r>
              <a:rPr dirty="0"/>
              <a:t> </a:t>
            </a:r>
            <a:r>
              <a:rPr dirty="0" err="1"/>
              <a:t>연관</a:t>
            </a:r>
            <a:r>
              <a:rPr dirty="0"/>
              <a:t> </a:t>
            </a:r>
            <a:r>
              <a:rPr dirty="0" err="1"/>
              <a:t>변이의</a:t>
            </a:r>
            <a:r>
              <a:rPr dirty="0"/>
              <a:t> </a:t>
            </a:r>
            <a:r>
              <a:rPr dirty="0" err="1"/>
              <a:t>정확한</a:t>
            </a:r>
            <a:r>
              <a:rPr dirty="0"/>
              <a:t> </a:t>
            </a:r>
            <a:r>
              <a:rPr dirty="0" err="1"/>
              <a:t>빈도·효과크기·BH-FDR</a:t>
            </a:r>
            <a:r>
              <a:rPr dirty="0"/>
              <a:t> </a:t>
            </a:r>
            <a:r>
              <a:rPr dirty="0" err="1"/>
              <a:t>값을</a:t>
            </a:r>
            <a:r>
              <a:rPr dirty="0"/>
              <a:t> </a:t>
            </a:r>
            <a:r>
              <a:rPr dirty="0" err="1"/>
              <a:t>확인하는</a:t>
            </a:r>
            <a:r>
              <a:rPr dirty="0"/>
              <a:t> </a:t>
            </a:r>
            <a:r>
              <a:rPr dirty="0" err="1"/>
              <a:t>표다</a:t>
            </a:r>
            <a:r>
              <a:rPr dirty="0"/>
              <a:t>. </a:t>
            </a:r>
            <a:r>
              <a:rPr dirty="0" err="1"/>
              <a:t>개별</a:t>
            </a:r>
            <a:r>
              <a:rPr dirty="0"/>
              <a:t> </a:t>
            </a:r>
            <a:r>
              <a:rPr dirty="0" err="1"/>
              <a:t>유전자</a:t>
            </a:r>
            <a:r>
              <a:rPr dirty="0"/>
              <a:t>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질문에</a:t>
            </a:r>
            <a:r>
              <a:rPr dirty="0"/>
              <a:t> </a:t>
            </a:r>
            <a:r>
              <a:rPr dirty="0" err="1"/>
              <a:t>답하기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근거로</a:t>
            </a:r>
            <a:r>
              <a:rPr dirty="0"/>
              <a:t> </a:t>
            </a:r>
            <a:r>
              <a:rPr dirty="0" err="1"/>
              <a:t>사용한다</a:t>
            </a:r>
            <a:r>
              <a:rPr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Random Forest </a:t>
            </a:r>
            <a:r>
              <a:rPr lang="ko-KR" altLang="en-US" dirty="0"/>
              <a:t>분석에서는 </a:t>
            </a:r>
            <a:r>
              <a:rPr lang="en" altLang="ko-KR" dirty="0"/>
              <a:t>TP53, ID3(damaging), BRAF(hotspot), RB1(damaging), CREBBP(damaging)</a:t>
            </a:r>
            <a:r>
              <a:rPr lang="ko-KR" altLang="en-US" dirty="0"/>
              <a:t>이 </a:t>
            </a:r>
            <a:r>
              <a:rPr lang="en" altLang="ko-KR" dirty="0"/>
              <a:t>WGD, CIN, LOH</a:t>
            </a:r>
            <a:r>
              <a:rPr lang="ko-KR" altLang="en-US" dirty="0" err="1"/>
              <a:t>를</a:t>
            </a:r>
            <a:r>
              <a:rPr lang="ko-KR" altLang="en-US" dirty="0"/>
              <a:t> 예측하는 공통 중요 변수로 확인되었다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유전자별</a:t>
            </a:r>
            <a:r>
              <a:rPr lang="ko-KR" altLang="en-US" dirty="0"/>
              <a:t> </a:t>
            </a:r>
            <a:r>
              <a:rPr lang="ko-KR" altLang="en-US" dirty="0" err="1"/>
              <a:t>통계검정</a:t>
            </a:r>
            <a:r>
              <a:rPr lang="ko-KR" altLang="en-US" dirty="0"/>
              <a:t> 결과</a:t>
            </a:r>
            <a:r>
              <a:rPr lang="en-US" altLang="ko-KR" dirty="0"/>
              <a:t>, </a:t>
            </a:r>
            <a:r>
              <a:rPr lang="en" altLang="ko-KR" dirty="0"/>
              <a:t>TP53 </a:t>
            </a:r>
            <a:r>
              <a:rPr lang="ko-KR" altLang="en-US" dirty="0"/>
              <a:t>변이는 세 표현형 모두와 양의 연관성을 보인 반면</a:t>
            </a:r>
            <a:r>
              <a:rPr lang="en-US" altLang="ko-KR" dirty="0"/>
              <a:t>, </a:t>
            </a:r>
            <a:r>
              <a:rPr lang="en" altLang="ko-KR" dirty="0"/>
              <a:t>ID3(damaging)</a:t>
            </a:r>
            <a:r>
              <a:rPr lang="ko-KR" altLang="en-US" dirty="0"/>
              <a:t>은 세 표현형 모두와 음의 연관성을 보였다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BRAF(hotspot)</a:t>
            </a:r>
            <a:r>
              <a:rPr lang="ko-KR" altLang="en-US" dirty="0"/>
              <a:t>은 </a:t>
            </a:r>
            <a:r>
              <a:rPr lang="en" altLang="ko-KR" dirty="0"/>
              <a:t>WGD</a:t>
            </a:r>
            <a:r>
              <a:rPr lang="ko-KR" altLang="en-US" dirty="0"/>
              <a:t>와 양의 연관성을</a:t>
            </a:r>
            <a:r>
              <a:rPr lang="en-US" altLang="ko-KR" dirty="0"/>
              <a:t>, </a:t>
            </a:r>
            <a:r>
              <a:rPr lang="en" altLang="ko-KR" dirty="0"/>
              <a:t>RB1(damaging)</a:t>
            </a:r>
            <a:r>
              <a:rPr lang="ko-KR" altLang="en-US" dirty="0"/>
              <a:t>은 </a:t>
            </a:r>
            <a:r>
              <a:rPr lang="en" altLang="ko-KR" dirty="0"/>
              <a:t>CIN </a:t>
            </a:r>
            <a:r>
              <a:rPr lang="ko-KR" altLang="en-US" dirty="0"/>
              <a:t>및 </a:t>
            </a:r>
            <a:r>
              <a:rPr lang="en" altLang="ko-KR" dirty="0"/>
              <a:t>LOH</a:t>
            </a:r>
            <a:r>
              <a:rPr lang="ko-KR" altLang="en-US" dirty="0"/>
              <a:t>와 양의 연관성을 나타냈으며</a:t>
            </a:r>
            <a:r>
              <a:rPr lang="en-US" altLang="ko-KR" dirty="0"/>
              <a:t>, </a:t>
            </a:r>
            <a:r>
              <a:rPr lang="en" altLang="ko-KR" dirty="0"/>
              <a:t>CREBBP(damaging)</a:t>
            </a:r>
            <a:r>
              <a:rPr lang="ko-KR" altLang="en-US" dirty="0"/>
              <a:t>은 </a:t>
            </a:r>
            <a:r>
              <a:rPr lang="en" altLang="ko-KR" dirty="0"/>
              <a:t>WGD </a:t>
            </a:r>
            <a:r>
              <a:rPr lang="ko-KR" altLang="en-US" dirty="0"/>
              <a:t>및 </a:t>
            </a:r>
            <a:r>
              <a:rPr lang="en" altLang="ko-KR" dirty="0"/>
              <a:t>CIN</a:t>
            </a:r>
            <a:r>
              <a:rPr lang="ko-KR" altLang="en-US" dirty="0"/>
              <a:t>과 음의 연관성을 보였다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통계검정</a:t>
            </a:r>
            <a:r>
              <a:rPr lang="ko-KR" altLang="en-US" dirty="0"/>
              <a:t> 상위 </a:t>
            </a:r>
            <a:r>
              <a:rPr lang="en-US" altLang="ko-KR" dirty="0"/>
              <a:t>10</a:t>
            </a:r>
            <a:r>
              <a:rPr lang="ko-KR" altLang="en-US" dirty="0"/>
              <a:t>개에 포함되지 않은 경우에도 연관성이 없다고 단정할 수는 없다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Random Forest</a:t>
            </a:r>
            <a:r>
              <a:rPr lang="ko-KR" altLang="en-US" dirty="0"/>
              <a:t>의 변수 중요도는 연관성의 방향이 아니라 예측 기여도를 나타내기 때문에</a:t>
            </a:r>
            <a:r>
              <a:rPr lang="en-US" altLang="ko-KR" dirty="0"/>
              <a:t>, </a:t>
            </a:r>
            <a:r>
              <a:rPr lang="ko-KR" altLang="en-US" dirty="0"/>
              <a:t>음의 연관성을 가진 유전자도 중요한 예측 변수로 선택될 수 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따라서 두 분석 결과는 서로 상충하기보다</a:t>
            </a:r>
            <a:r>
              <a:rPr lang="en-US" altLang="ko-KR" dirty="0"/>
              <a:t>, </a:t>
            </a:r>
            <a:r>
              <a:rPr lang="ko-KR" altLang="en-US" dirty="0"/>
              <a:t>공통 유전자들이 각기 다른 방향과 방식으로 세 표현형의 예측에 기여한다는 것을 보여준다</a:t>
            </a:r>
            <a:r>
              <a:rPr lang="en-US" altLang="ko-KR" dirty="0"/>
              <a:t>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source deck: 결과_정리_AI_bio_project_1조_발표용_수정본.pptx</a:t>
            </a:r>
          </a:p>
          <a:p>
            <a:r>
              <a:rPr dirty="0"/>
              <a:t>- results figure: /Users/wjo9956/Desktop/</a:t>
            </a:r>
            <a:r>
              <a:rPr dirty="0" err="1"/>
              <a:t>범부처</a:t>
            </a:r>
            <a:r>
              <a:rPr dirty="0"/>
              <a:t>/AI </a:t>
            </a:r>
            <a:r>
              <a:rPr dirty="0" err="1"/>
              <a:t>바이오데이터</a:t>
            </a:r>
            <a:r>
              <a:rPr dirty="0"/>
              <a:t> </a:t>
            </a:r>
            <a:r>
              <a:rPr dirty="0" err="1"/>
              <a:t>팀프로젝트</a:t>
            </a:r>
            <a:r>
              <a:rPr dirty="0"/>
              <a:t>/AI-bio-proj-team-1-main/results/figures/fig22_mutation_association_tables.png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결과의 검증 및 해석 자료</a:t>
            </a:r>
          </a:p>
          <a:p>
            <a:r>
              <a:t>암종 내부 성능과 LOLO 성능의 관계는 약했고 암종별 편차가 컸다. CIN은 라벨을 암종 내부에서 다시 정의하면 일부 차이가 줄어든다.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팀프로젝트/AI-bio-proj-team-1-main/results/figures/fig7_lineage_specific.png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탐색적 확장 결과</a:t>
            </a:r>
          </a:p>
          <a:p>
            <a:r>
              <a:t>LOH에서는 mutation burden과 TP53 변이율의 극단성이 성능과 명목상 연관됐다. 다중가설 보정 전 탐색 결과이므로 원인으로 단정할 수 없다.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팀프로젝트/AI-bio-proj-team-1-main/results/figures/fig8_lineage_hypotheses_random_forest_loh.png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결과의 검증 및 해석 자료</a:t>
            </a:r>
          </a:p>
          <a:p>
            <a:r>
              <a:t>WGD·CIN·LOH의 high/low가 UMAP에서 크게 겹친다. 이는 mutation만으로 얻은 예측 성능이 중간 수준인 이유와 일치한다.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팀프로젝트/AI-bio-proj-team-1-main/results/figures/fig23_mutation_umap.png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결과의 검증 및 해석 자료</a:t>
            </a:r>
          </a:p>
          <a:p>
            <a:r>
              <a:t>일부 UMAP 군집이 암종에 따라 달라진다. 모델이 표현형 신호뿐 아니라 lineage 관련 mutation 분포를 학습할 가능성을 보여준다.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팀프로젝트/AI-bio-proj-team-1-main/results/figures/fig23b_mutation_umap_lineage.png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결과의 검증 및 해석 자료</a:t>
            </a:r>
          </a:p>
          <a:p>
            <a:r>
              <a:t>반복 선택되는 유전자군은 있지만 표현형과 fold에 따라 조합이 달라진다. 최소 패널을 하나의 확정 유전자 목록으로 해석하면 안 된다.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팀프로젝트/AI-bio-proj-team-1-main/results/figures/fig25_selection_dendrogram_random_forest_panel10.png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결과의 검증 및 해석 자료</a:t>
            </a:r>
          </a:p>
          <a:p>
            <a:r>
              <a:t>암종들은 10개 패널 mutation 빈도에 따라 서로 다른 군집을 형성한다. 이러한 분포 차이가 암종 간 일반화 성능 저하의 한 원인이 될 수 있다.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팀프로젝트/AI-bio-proj-team-1-main/results/figures/fig25b_lineage_dendrogram_random_forest_panel10.png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탐색적 확장 결과</a:t>
            </a:r>
          </a:p>
          <a:p>
            <a:r>
              <a:t>연속값을 직접 예측해도 정보가 크게 개선되지는 않았다. 분류 AUC 환산값과 Spearman ρ는 동일 지표가 아니므로 방향성 비교로만 본다.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팀프로젝트/AI-bio-proj-team-1-main/results/figures/fig9_regression_vs_classification.png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탐색적 확장 결과</a:t>
            </a:r>
          </a:p>
          <a:p>
            <a:r>
              <a:t>22개 pathway로 희소성을 완화했지만 6개 모델–표현형 조합 모두 유전자 단위보다 ROC-AUC가 0.028~0.049 낮았다.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팀프로젝트/AI-bio-proj-team-1-main/results/figures/fig10_pathway_vs_gene.png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탐색적 확장 결과</a:t>
            </a:r>
          </a:p>
          <a:p>
            <a:r>
              <a:t>TCGA ROC-AUC는 0.594로 내부 성능보다 낮았다. TP53 coverage와 damaging 정의가 크게 달라 단순한 일반화 실패로만 해석하기 어렵다.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팀프로젝트/AI-bio-proj-team-1-main/results/figures/fig11_tcga_validation.png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탐색적 확장 결과</a:t>
            </a:r>
          </a:p>
          <a:p>
            <a:r>
              <a:t>96개 signature는 특히 CIN에서 유전자 단위보다 높은 성능을 보였다. 본 결과는 탐색적이며 독립 데이터 검증이 필요하다.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팀프로젝트/AI-bio-proj-team-1-main/results/figures/fig12_signature_vs_gene.png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탐색적 확장 결과</a:t>
            </a:r>
          </a:p>
          <a:p>
            <a:r>
              <a:t>Random Forest에서는 20~30개 signature에서 전체 96개에 근접했다. 유전자 패널과는 입력 단위가 달라 직접적인 패널 수 비교는 어렵다.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팀프로젝트/AI-bio-proj-team-1-main/results/figures/fig13_signature_panel_curve.png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탐색적 확장 결과</a:t>
            </a:r>
          </a:p>
          <a:p>
            <a:r>
              <a:t>세 seed 간 ROC-AUC 변동폭이 약 0.001~0.005로 작았다. 관측된 signature 성능이 단일 seed에 의존하지 않음을 확인했다.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팀프로젝트/AI-bio-proj-team-1-main/results/figures/fig15_signature_seed_robustness.png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탐색적 확장 결과</a:t>
            </a:r>
          </a:p>
          <a:p>
            <a:r>
              <a:t>6개 조합 모두 단일 입력보다 성능이 높았다. 다만 Random Forest 중요도가 연속형 signature에 편향될 수 있어 패널 구성 해석은 신중해야 한다.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팀프로젝트/AI-bio-proj-team-1-main/results/figures/fig17_combined_panel.png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탐색적 확장 결과</a:t>
            </a:r>
          </a:p>
          <a:p>
            <a:r>
              <a:t>결합에 따른 성능 향상은 operating point의 이동을 동반한다. CIN은 두 모델 모두 비교적 균형을 유지했지만 표현형별 오류 구조가 달라진다.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팀프로젝트/AI-bio-proj-team-1-main/results/figures/fig18_sens_spec_tradeoff.png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탐색적 확장 결과</a:t>
            </a:r>
          </a:p>
          <a:p>
            <a:r>
              <a:t>회귀 기반 CIN 예측은 중간 수준의 상관을 보였다. Random Forest에서는 분류·회귀 패널의 유전자 겹침이 더 컸지만 완전히 동일하지 않았다.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팀프로젝트/AI-bio-proj-team-1-main/results/figures/fig14_cin_regression_panel.png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탐색적 확장 결과</a:t>
            </a:r>
          </a:p>
          <a:p>
            <a:r>
              <a:t>공통 instability 축과 mutation 패턴의 상관은 이진 라벨 r=0.390, 연속값 r=0.453이었다. 공유 신호는 있으나 명확한 분리 축은 아니다.</a:t>
            </a:r>
          </a:p>
          <a:p>
            <a:endParaRPr/>
          </a:p>
          <a:p>
            <a:r>
              <a:t>[Sources]</a:t>
            </a:r>
          </a:p>
          <a:p>
            <a:r>
              <a:t>- source deck: 결과_정리_AI_bio_project_1조_발표용_수정본.pptx</a:t>
            </a:r>
          </a:p>
          <a:p>
            <a:r>
              <a:t>- results figure: /Users/wjo9956/Desktop/범부처/AI 바이오데이터 팀프로젝트/AI-bio-proj-team-1-main/results/figures/fig24b_mutation_cca_comparison.png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emf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emf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FFC68AD-4B6F-4C4B-9728-29A8CED54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030" y="4640470"/>
            <a:ext cx="2613940" cy="18923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47BA3A4-BD96-D042-AA8B-C70992910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0" y="1905000"/>
            <a:ext cx="12319000" cy="2159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4D255BF-5BD1-BD43-AE4B-B02822297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6683790"/>
            <a:ext cx="45974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2362200"/>
            <a:ext cx="6007100" cy="474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1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유전체</a:t>
            </a:r>
            <a:r>
              <a:rPr lang="en-US" sz="2666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666" b="1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불안정성</a:t>
            </a:r>
            <a:endParaRPr lang="en-US" sz="2666" b="1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endParaRPr lang="en-US" sz="2666" b="1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WGD (Whole Genome Doubling)</a:t>
            </a: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전체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유전체가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한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번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더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복제된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상태</a:t>
            </a:r>
            <a:endParaRPr lang="en-US" sz="2400" b="0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CIN (Chromosomal Instability)</a:t>
            </a: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염색체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수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&amp;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구조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계속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불안정하게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변하는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상태</a:t>
            </a:r>
            <a:endParaRPr lang="en-US" sz="2400" b="0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endParaRPr lang="en-US" sz="2400" b="0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- LOH (Loss of Heterozygosity)</a:t>
            </a: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서로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다른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두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유전정보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중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하나가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소실된</a:t>
            </a:r>
            <a:r>
              <a:rPr lang="en-US" sz="2400" b="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상태</a:t>
            </a:r>
            <a:endParaRPr lang="en-US" sz="2400" b="0" i="0" u="none" strike="noStrike" dirty="0">
              <a:solidFill>
                <a:srgbClr val="000000"/>
              </a:solidFill>
              <a:latin typeface="NanumBarunGothic"/>
              <a:ea typeface="NanumBarunGothic"/>
              <a:cs typeface="NanumBarunGothic"/>
            </a:endParaRPr>
          </a:p>
        </p:txBody>
      </p:sp>
      <p:sp>
        <p:nvSpPr>
          <p:cNvPr id="4" name="TextBox 4"/>
          <p:cNvSpPr txBox="1"/>
          <p:nvPr/>
        </p:nvSpPr>
        <p:spPr>
          <a:xfrm rot="21600000">
            <a:off x="6629400" y="812799"/>
            <a:ext cx="29972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Background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7277100" y="3251200"/>
            <a:ext cx="1714500" cy="3352800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243CA6A2-FAC7-2B43-9874-9BFDB1A92F7A}"/>
              </a:ext>
            </a:extLst>
          </p:cNvPr>
          <p:cNvSpPr txBox="1"/>
          <p:nvPr/>
        </p:nvSpPr>
        <p:spPr>
          <a:xfrm>
            <a:off x="8813800" y="2489199"/>
            <a:ext cx="6934200" cy="487680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기존 평가 방법</a:t>
            </a:r>
            <a:b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</a:b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유전체 전반의 </a:t>
            </a:r>
            <a:r>
              <a:rPr 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Copy number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와 </a:t>
            </a:r>
            <a:r>
              <a:rPr 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Ploidy 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정보 필요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↓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데이터의 한계</a:t>
            </a:r>
            <a:b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</a:b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표적 </a:t>
            </a:r>
            <a:r>
              <a:rPr 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NGS·</a:t>
            </a:r>
            <a:r>
              <a:rPr lang="ko-KR" altLang="en-US" sz="2400" i="0" u="none" strike="noStrike" dirty="0" err="1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코호트에는</a:t>
            </a:r>
            <a:b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</a:b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유전자</a:t>
            </a:r>
            <a:r>
              <a:rPr lang="en-US" altLang="ko-KR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 </a:t>
            </a:r>
            <a:r>
              <a:rPr 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Mutation 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정보만 있는 경우 존재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↓</a:t>
            </a:r>
          </a:p>
          <a:p>
            <a:pPr lvl="0" algn="ctr">
              <a:lnSpc>
                <a:spcPct val="116199"/>
              </a:lnSpc>
            </a:pPr>
            <a: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연구 질문</a:t>
            </a:r>
            <a:br>
              <a:rPr lang="ko-KR" altLang="en-US" sz="2400" b="1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</a:b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소수의 핵심</a:t>
            </a:r>
            <a:r>
              <a:rPr lang="en-US" altLang="ko-KR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. 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유전자 </a:t>
            </a:r>
            <a:r>
              <a:rPr 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Mutation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만으로</a:t>
            </a:r>
            <a:b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</a:b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유전체 불안정성을 </a:t>
            </a:r>
            <a:r>
              <a:rPr lang="ko-KR" altLang="en-US" sz="2400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예측</a:t>
            </a:r>
            <a:r>
              <a:rPr lang="ko-KR" altLang="en-US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할 수 있을까</a:t>
            </a:r>
            <a:r>
              <a:rPr lang="en-US" altLang="ko-KR" sz="2400" i="0" u="none" strike="noStrike" dirty="0">
                <a:solidFill>
                  <a:srgbClr val="000000"/>
                </a:solidFill>
                <a:latin typeface="NanumBarunGothic"/>
                <a:ea typeface="NanumBarunGothic"/>
                <a:cs typeface="NanumBarunGothic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25675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43750" y="914401"/>
            <a:ext cx="1968500" cy="7366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D149FAF-8E3C-6746-ACB2-E7DED51EF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2302" y="2257425"/>
            <a:ext cx="13331396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8D35038-18E6-984C-9A73-8479F262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400" y="711200"/>
            <a:ext cx="12649200" cy="84328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2157FDF-54DE-8C4B-8269-7C95F2D12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" y="127000"/>
            <a:ext cx="37973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0" y="3708400"/>
            <a:ext cx="2946400" cy="1727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3441700"/>
            <a:ext cx="1219200" cy="660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400" y="4737100"/>
            <a:ext cx="1485900" cy="660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4800" y="4038600"/>
            <a:ext cx="9906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5334000"/>
            <a:ext cx="2235200" cy="40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7200" y="5689600"/>
            <a:ext cx="2501900" cy="342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27200" y="5956300"/>
            <a:ext cx="3086100" cy="3429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4981854-E664-884A-AB48-7234C96C4CB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1515" r="50000"/>
          <a:stretch/>
        </p:blipFill>
        <p:spPr>
          <a:xfrm>
            <a:off x="5511800" y="1295400"/>
            <a:ext cx="9615865" cy="40303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A560007-B1AD-184B-BB78-8D1AEA9CB6F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50000" t="11515"/>
          <a:stretch/>
        </p:blipFill>
        <p:spPr>
          <a:xfrm>
            <a:off x="5511800" y="5037418"/>
            <a:ext cx="9615865" cy="403038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5407740-B53B-AA4D-B769-AAE381FA60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" y="139700"/>
            <a:ext cx="10604500" cy="1155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C0A8FF22-096C-F24C-8AB3-492721197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76200"/>
            <a:ext cx="8953500" cy="11684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C8695AD-E1D6-1845-A32F-517E3184E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78" y="1420992"/>
            <a:ext cx="16003044" cy="478192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8C62053-0F20-5941-AF2E-3E5713C46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50" y="6239608"/>
            <a:ext cx="142113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08C9634-B8EB-1345-946E-5BCE113162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18" b="4984"/>
          <a:stretch/>
        </p:blipFill>
        <p:spPr>
          <a:xfrm>
            <a:off x="0" y="914400"/>
            <a:ext cx="16303812" cy="8153400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E693655F-6F90-BB42-8102-C4212ED43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8051800"/>
            <a:ext cx="7594600" cy="482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0B83625-CD86-854E-B904-C9B0DA80E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" y="76200"/>
            <a:ext cx="61722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335BAC5C-4992-9140-9EFB-0C6F885A8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3152" r="179"/>
          <a:stretch/>
        </p:blipFill>
        <p:spPr>
          <a:xfrm>
            <a:off x="940777" y="1218100"/>
            <a:ext cx="14173200" cy="43230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D1F52E1-C6BB-CA49-A601-F70D546F9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8" y="89457"/>
            <a:ext cx="6553200" cy="11684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6044D39-B8B1-D544-A3E3-C6255AA63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81" y="5564299"/>
            <a:ext cx="14973300" cy="3378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889D8D8C-229A-9A48-803F-481117F99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8600"/>
            <a:ext cx="16200895" cy="49784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D0A4E4C-5C8F-3B4E-A243-4193153B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" y="76200"/>
            <a:ext cx="8585200" cy="11557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DEE19AC5-E6A9-DA44-81F5-1F4393E18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797" y="6388100"/>
            <a:ext cx="14211300" cy="2451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86600" y="406400"/>
            <a:ext cx="2082800" cy="78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900" y="1371600"/>
            <a:ext cx="12980366" cy="885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900" y="5676900"/>
            <a:ext cx="130302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900" y="3670300"/>
            <a:ext cx="13030200" cy="173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2900" y="2514600"/>
            <a:ext cx="13030200" cy="889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25ADF25-32A6-8345-BBF0-76DA533046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7256462"/>
            <a:ext cx="14630400" cy="1257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48400" y="4089400"/>
            <a:ext cx="37592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WGD의 균형정확도가 가장 높았다(0.715). CIN·LOH는 민감도보다 특이도가 낮아 low 샘플을 high로 예측하는 오류가 상대적으로 많았다.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FC94F573-4BD6-4563-A629-C06337712203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</a:t>
            </a:r>
            <a:r>
              <a:rPr sz="2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전체</a:t>
            </a:r>
            <a:r>
              <a:rPr sz="2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Random </a:t>
            </a:r>
            <a:r>
              <a:rPr sz="2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Forest의</a:t>
            </a:r>
            <a:r>
              <a:rPr sz="2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오류</a:t>
            </a:r>
            <a:r>
              <a:rPr sz="28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구조</a:t>
            </a:r>
            <a:endParaRPr sz="280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1225057"/>
            <a:ext cx="14478000" cy="546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44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295482" y="7236232"/>
            <a:ext cx="14456148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WGD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성능은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거의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유지됐지만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CIN·LOH에서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특이도가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감소해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위양성이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증가했다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각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fold에서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독립적으로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뽑은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10개이므로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하나의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패널은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아니다</a:t>
            </a:r>
            <a:r>
              <a:rPr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2667" dirty="0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997C1238-D369-40DB-96C2-2EAFF85A4953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10개 패널의 오류 구조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9927" y="1193801"/>
            <a:ext cx="14456148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82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균형정확도는 WGD 0.705, CIN 0.666, LOH 0.666이었다. 10개 패널보다 CIN·LOH의 민감도–특이도 균형이 안정적이다.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57FC75E5-D89C-462C-8E43-DFC8683F5693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20개 패널은 CIN·LOH의 균형을 보완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9927" y="1193801"/>
            <a:ext cx="14456148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88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636413"/>
            <a:ext cx="13970000" cy="96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25">
                <a:solidFill>
                  <a:srgbClr val="222222"/>
                </a:solidFill>
              </a:defRPr>
            </a:pPr>
            <a:r>
              <a:rPr lang="en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Random Forest</a:t>
            </a:r>
            <a:r>
              <a:rPr lang="ko-KR" altLang="en-US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가 중요하다고 판단한 유전자 중 절반 이상이 별도의 통계 검정에서도 유의하게 나왔다</a:t>
            </a:r>
            <a:r>
              <a:rPr lang="en-US" altLang="ko-KR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  <a:p>
            <a:pPr algn="ctr">
              <a:defRPr sz="1425">
                <a:solidFill>
                  <a:srgbClr val="222222"/>
                </a:solidFill>
              </a:defRPr>
            </a:pPr>
            <a:r>
              <a:rPr lang="ko-KR" altLang="en-US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특히 </a:t>
            </a:r>
            <a:r>
              <a:rPr lang="en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TP53, ID3, CREBBP, RB1 </a:t>
            </a:r>
            <a:r>
              <a:rPr lang="ko-KR" altLang="en-US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등이 반복해서 겹치므로</a:t>
            </a:r>
            <a:r>
              <a:rPr lang="en-US" altLang="ko-KR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,</a:t>
            </a:r>
          </a:p>
          <a:p>
            <a:pPr algn="ctr">
              <a:defRPr sz="1425">
                <a:solidFill>
                  <a:srgbClr val="222222"/>
                </a:solidFill>
              </a:defRPr>
            </a:pPr>
            <a:r>
              <a:rPr lang="ko-KR" altLang="en-US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모델이 우연한 패턴만 학습한 것이 아니라 실제 데이터에 존재하는 연관성을 어느 정도 포착했다는 근거가 된다</a:t>
            </a:r>
            <a:r>
              <a:rPr lang="en-US" altLang="ko-KR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8F4D3552-AAC9-444D-A60E-E70ED28D2D4F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표현형과 통계적으로 연관된 mutation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6869" y="812801"/>
            <a:ext cx="12806361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57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6762133"/>
            <a:ext cx="13970000" cy="96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lang="en" altLang="ko-KR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RF </a:t>
            </a:r>
            <a:r>
              <a:rPr lang="ko-KR" altLang="en-US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분석에서 </a:t>
            </a:r>
            <a:r>
              <a:rPr lang="en" altLang="ko-KR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TP53, ID3, BRAF, RB1, CREBBP</a:t>
            </a:r>
            <a:r>
              <a:rPr lang="ko-KR" altLang="en-US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가 세 표현형의 공통 중요 변수로 확인됨</a:t>
            </a:r>
          </a:p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lang="ko-KR" altLang="en-US"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통계검정</a:t>
            </a:r>
            <a:r>
              <a:rPr lang="ko-KR" altLang="en-US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 결과</a:t>
            </a:r>
            <a:r>
              <a:rPr lang="en-US" altLang="ko-KR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en" altLang="ko-KR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TP53</a:t>
            </a:r>
            <a:r>
              <a:rPr lang="ko-KR" altLang="en-US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은 양의 연관성</a:t>
            </a:r>
            <a:r>
              <a:rPr lang="en-US" altLang="ko-KR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en" altLang="ko-KR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ID3</a:t>
            </a:r>
            <a:r>
              <a:rPr lang="ko-KR" altLang="en-US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는 음의 연관성이 세 표현형에서 공통적으로 나타남</a:t>
            </a:r>
          </a:p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lang="en" altLang="ko-KR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RF </a:t>
            </a:r>
            <a:r>
              <a:rPr lang="ko-KR" altLang="en-US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중요도는 연관성의 방향이 아닌 예측 기여도를 의미하므로</a:t>
            </a:r>
            <a:r>
              <a:rPr lang="en-US" altLang="ko-KR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900" dirty="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두 결과는 상호 </a:t>
            </a:r>
            <a:r>
              <a:rPr lang="ko-KR" altLang="en-US" sz="1900" dirty="0" err="1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보완적임</a:t>
            </a:r>
            <a:endParaRPr lang="ko-KR" altLang="en-US" sz="1900" dirty="0">
              <a:solidFill>
                <a:srgbClr val="22222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A2C33026-9799-42F8-81AE-C134F2D9B684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Mutation 연관성의 효과크기와 보정 유의확률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1897119"/>
            <a:ext cx="14478000" cy="411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17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암종 내부 성능과 LOLO 성능의 관계는 약했고 암종별 편차가 컸다. CIN은 라벨을 암종 내부에서 다시 정의하면 일부 차이가 줄어든다.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DE3F73E2-B2E4-4C22-8A0A-C66AB2B40B77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암종 내부 학습과 암종 간 전이의 차이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1615907"/>
            <a:ext cx="14478000" cy="46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88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LOH에서는 mutation burden과 TP53 변이율의 극단성이 성능과 명목상 연관됐다. 다중가설 보정 전 탐색 결과이므로 원인으로 단정할 수 없다.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D7C299B7-598C-44A9-92A1-8A033C9A879E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LOH의 lineage 성능 차이에 대한 탐색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29138" y="1193801"/>
            <a:ext cx="8397724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98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WGD·CIN·LOH의 high/low가 UMAP에서 크게 겹친다. 이는 mutation만으로 얻은 예측 성능이 중간 수준인 이유와 일치한다.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70B859F5-7DA1-480A-9369-67706E505A1E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Mutation 공간에서 표현형이 완전히 분리되지는 않는다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1463097"/>
            <a:ext cx="14478000" cy="498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008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일부 UMAP 군집이 암종에 따라 달라진다. 모델이 표현형 신호뿐 아니라 lineage 관련 mutation 분포를 학습할 가능성을 보여준다.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9805D6E7-AE78-4D32-A72A-054D555B8958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Mutation 공간에는 암종 구조도 함께 존재한다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1830987"/>
            <a:ext cx="14478000" cy="425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81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반복 선택되는 유전자군은 있지만 표현형과 fold에 따라 조합이 달라진다. 최소 패널을 하나의 확정 유전자 목록으로 해석하면 안 된다.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436650D4-4859-401F-975A-C60D3C52C9BF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10개 패널의 fold별 선택 구조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61888" y="1193801"/>
            <a:ext cx="13132224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24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암종들은 10개 패널 mutation 빈도에 따라 서로 다른 군집을 형성한다. 이러한 분포 차이가 암종 간 일반화 성능 저하의 한 원인이 될 수 있다.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EB69B20B-2C9E-4039-8463-9CC5EA9BE008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[APPENDIX] Lineage별 패널 mutation 프로파일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76340" y="1193801"/>
            <a:ext cx="1170332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69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연속값을 직접 예측해도 정보가 크게 개선되지는 않았다. 분류 AUC 환산값과 Spearman ρ는 동일 지표가 아니므로 방향성 비교로만 본다.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B2450093-974B-44B4-A94C-DC779D79DB84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 · 탐색] 이진분류와 연속값 회귀 비교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08382" y="1193801"/>
            <a:ext cx="12239237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43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22개 pathway로 희소성을 완화했지만 6개 모델–표현형 조합 모두 유전자 단위보다 ROC-AUC가 0.028~0.049 낮았다.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9B3CDD13-895E-471A-AFC0-3F0BD415F97E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 · 탐색] Pathway 집계는 유전자 단위 성능을 넘지 못했다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12514" y="1193801"/>
            <a:ext cx="11830973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3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TCGA ROC-AUC는 0.594로 내부 성능보다 낮았다. TP53 coverage와 damaging 정의가 크게 달라 단순한 일반화 실패로만 해석하기 어렵다.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AD6402C1-3E2A-464D-92B7-1AA851FFD696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 · 탐색] TCGA 외부 검증은 데이터 정의 차이에 민감했다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37900" y="1193801"/>
            <a:ext cx="11580201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5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96개 signature는 특히 CIN에서 유전자 단위보다 높은 성능을 보였다. 본 결과는 탐색적이며 독립 데이터 검증이 필요하다.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BF6AC029-19C8-449F-A135-1D9FC296233E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 · 탐색] Mutation signature는 5/6 조합에서 성능을 개선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12514" y="1193801"/>
            <a:ext cx="11830973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07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Random Forest에서는 20~30개 signature에서 전체 96개에 근접했다. 유전자 패널과는 입력 단위가 달라 직접적인 패널 수 비교는 어렵다.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219A709B-09ED-453C-A906-3B435EA29873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 · 탐색] Signature 패널 크기와 성능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82154" y="1193801"/>
            <a:ext cx="13291693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61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세 seed 간 ROC-AUC 변동폭이 약 0.001~0.005로 작았다. 관측된 signature 성능이 단일 seed에 의존하지 않음을 확인했다.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4ADFF99B-DF54-47A9-96C9-B39FB144A775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 · 탐색] Signature 결과의 seed 재현성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70302" y="1193801"/>
            <a:ext cx="10915396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5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6개 조합 모두 단일 입력보다 성능이 높았다. 다만 Random Forest 중요도가 연속형 signature에 편향될 수 있어 패널 구성 해석은 신중해야 한다.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0DF9CE24-3D90-40DE-9626-32E60E98DDF2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 · 탐색] 유전자+Signature 결합은 성능을 개선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3022" y="1193801"/>
            <a:ext cx="13669959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44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결합에 따른 성능 향상은 operating point의 이동을 동반한다. CIN은 두 모델 모두 비교적 균형을 유지했지만 표현형별 오류 구조가 달라진다.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E984BCFE-3F6B-4502-802E-1B0D9356C939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 · 탐색] 결합 모델의 민감도–특이도 이동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50306" y="1193801"/>
            <a:ext cx="8955389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06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회귀 기반 CIN 예측은 중간 수준의 상관을 보였다. Random Forest에서는 분류·회귀 패널의 유전자 겹침이 더 컸지만 완전히 동일하지 않았다.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CA1D9CEF-52EF-44FA-85E0-DE253F26E395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 · 탐색] CIN 회귀 패널과 분류 패널의 겹침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50692" y="1193801"/>
            <a:ext cx="13354617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46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D8F44BD-1270-F54D-9D8D-B837119DEB8E}"/>
              </a:ext>
            </a:extLst>
          </p:cNvPr>
          <p:cNvSpPr>
            <a:spLocks noGrp="1"/>
          </p:cNvSpPr>
          <p:nvPr/>
        </p:nvSpPr>
        <p:spPr>
          <a:xfrm>
            <a:off x="1143000" y="7395889"/>
            <a:ext cx="1397000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425">
                <a:solidFill>
                  <a:srgbClr val="222222"/>
                </a:solidFill>
              </a:defRPr>
            </a:pPr>
            <a:r>
              <a:rPr sz="1900">
                <a:solidFill>
                  <a:srgbClr val="222222"/>
                </a:solidFill>
                <a:latin typeface="Apple SD Gothic Neo"/>
                <a:ea typeface="Apple SD Gothic Neo"/>
                <a:cs typeface="Apple SD Gothic Neo"/>
              </a:rPr>
              <a:t>공통 instability 축과 mutation 패턴의 상관은 이진 라벨 r=0.390, 연속값 r=0.453이었다. 공유 신호는 있으나 명확한 분리 축은 아니다.</a:t>
            </a:r>
            <a:endParaRPr sz="2667"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Appendix title">
            <a:extLst>
              <a:ext uri="{FF2B5EF4-FFF2-40B4-BE49-F238E27FC236}">
                <a16:creationId xmlns:a16="http://schemas.microsoft.com/office/drawing/2014/main" id="{51E95EE2-C089-4138-BD68-2D74572495A3}"/>
              </a:ext>
            </a:extLst>
          </p:cNvPr>
          <p:cNvSpPr>
            <a:spLocks noGrp="1"/>
          </p:cNvSpPr>
          <p:nvPr/>
        </p:nvSpPr>
        <p:spPr>
          <a:xfrm>
            <a:off x="177801" y="127000"/>
            <a:ext cx="156845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[APPENDIX · 탐색] 세 표현형이 공유하는 mutation 축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1198796"/>
            <a:ext cx="14478000" cy="551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36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4097</Words>
  <Application>Microsoft Macintosh PowerPoint</Application>
  <PresentationFormat>사용자 지정</PresentationFormat>
  <Paragraphs>310</Paragraphs>
  <Slides>32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NanumBarunGothic</vt:lpstr>
      <vt:lpstr>Calibri</vt:lpstr>
      <vt:lpstr>Arial</vt:lpstr>
      <vt:lpstr>맑은 고딕</vt:lpstr>
      <vt:lpstr>Apple SD Gothic Neo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원주영</cp:lastModifiedBy>
  <cp:revision>97</cp:revision>
  <dcterms:created xsi:type="dcterms:W3CDTF">2006-08-16T00:00:00Z</dcterms:created>
  <dcterms:modified xsi:type="dcterms:W3CDTF">2026-09-01T09:45:39Z</dcterms:modified>
</cp:coreProperties>
</file>