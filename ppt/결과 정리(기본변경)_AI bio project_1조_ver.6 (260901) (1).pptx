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embeddedFontLst>
    <p:embeddedFont>
      <p:font typeface="NanumBarunGothic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247900" y="2514600"/>
            <a:ext cx="11950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3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DepMap DNA 변이 기반 유전체 불안정성 예측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82900" y="3378200"/>
            <a:ext cx="10680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3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및 최소 Mutation Biomarker Panel 발굴</a:t>
            </a:r>
          </a:p>
        </p:txBody>
      </p:sp>
      <p:sp>
        <p:nvSpPr>
          <p:cNvPr name="TextBox 6" id="6"/>
          <p:cNvSpPr txBox="true"/>
          <p:nvPr/>
        </p:nvSpPr>
        <p:spPr>
          <a:xfrm rot="21600000">
            <a:off x="6019800" y="5397500"/>
            <a:ext cx="4356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68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AI bio team project 1조</a:t>
            </a:r>
          </a:p>
        </p:txBody>
      </p:sp>
      <p:sp>
        <p:nvSpPr>
          <p:cNvPr name="TextBox 7" id="7"/>
          <p:cNvSpPr txBox="true"/>
          <p:nvPr/>
        </p:nvSpPr>
        <p:spPr>
          <a:xfrm rot="21600000">
            <a:off x="7277100" y="6248400"/>
            <a:ext cx="18034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이건우 원주영</a:t>
            </a:r>
          </a:p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정현희 박수현</a:t>
            </a:r>
          </a:p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김태현 배한얼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66800" y="2705100"/>
            <a:ext cx="12395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암세포의 유전체 불안정성과 관련된 대표적인 세 가지 유전체 변화 특징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3492500"/>
            <a:ext cx="7061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WGD (Whole Genome Doubling)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0" y="4025900"/>
            <a:ext cx="623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전체 유전체가 한 번 더 복제된 상태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5067300"/>
            <a:ext cx="6565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CIN (Chromosomal Instability)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5613400"/>
            <a:ext cx="8280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염색체 수 &amp; 구조 계속 불안정하게 변하는 상태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6654800"/>
            <a:ext cx="6426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LOH (Loss of Heterozygosity)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88200"/>
            <a:ext cx="7950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서로 다른 두 유전정보 중 하나가 소실된 상태</a:t>
            </a:r>
          </a:p>
        </p:txBody>
      </p:sp>
      <p:sp>
        <p:nvSpPr>
          <p:cNvPr name="TextBox 11" id="11"/>
          <p:cNvSpPr txBox="true"/>
          <p:nvPr/>
        </p:nvSpPr>
        <p:spPr>
          <a:xfrm rot="21600000">
            <a:off x="1066800" y="1168400"/>
            <a:ext cx="31750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4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Background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21600000">
            <a:off x="1054100" y="1168400"/>
            <a:ext cx="2247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4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핵심 질문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3340100"/>
            <a:ext cx="10807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222222"/>
                </a:solidFill>
                <a:latin typeface="NanumBarunGothic"/>
                <a:ea typeface="NanumBarunGothic"/>
                <a:cs typeface="NanumBarunGothic"/>
              </a:rPr>
              <a:t>Q1. Mutation만으로 WGD·CIN·LOH를 예측할 수 있는가?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0" y="4406900"/>
            <a:ext cx="8712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222222"/>
                </a:solidFill>
                <a:latin typeface="NanumBarunGothic"/>
                <a:ea typeface="NanumBarunGothic"/>
                <a:cs typeface="NanumBarunGothic"/>
              </a:rPr>
              <a:t>Q2. 어떤 유전자 변이가 반복적으로 선택되는가?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5461000"/>
            <a:ext cx="14262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222222"/>
                </a:solidFill>
                <a:latin typeface="NanumBarunGothic"/>
                <a:ea typeface="NanumBarunGothic"/>
                <a:cs typeface="NanumBarunGothic"/>
              </a:rPr>
              <a:t>Q3. 일부 핵심 mutation만으로 전체 모델 성능의 상당 부분을 유지할 수 있는가?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6527800"/>
            <a:ext cx="7823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89" b="false" i="false" u="none" strike="noStrike">
                <a:solidFill>
                  <a:srgbClr val="222222"/>
                </a:solidFill>
                <a:latin typeface="NanumBarunGothic"/>
                <a:ea typeface="NanumBarunGothic"/>
                <a:cs typeface="NanumBarunGothic"/>
              </a:rPr>
              <a:t>Q4. 각각의 암종에서도 성능이 유지되는가?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21600000">
            <a:off x="254000" y="254000"/>
            <a:ext cx="353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1. 연구 전체 흐름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70100" y="850900"/>
            <a:ext cx="121285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10200" y="1206500"/>
            <a:ext cx="95631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48300" y="4864100"/>
            <a:ext cx="9525000" cy="4013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54000" y="266700"/>
            <a:ext cx="4572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2. WGD/CIN/LOH 분포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000" y="800100"/>
            <a:ext cx="103251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10개보다 적은 세포주에서만 나타나는 너무 희귀한 mutation을 제외 후 모델 학습에 사용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3708400"/>
            <a:ext cx="2946400" cy="1727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62100" y="3441700"/>
            <a:ext cx="1358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66" b="tru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1,631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1400" y="4737100"/>
            <a:ext cx="1625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66" b="true" i="false" u="none" strike="noStrike">
                <a:solidFill>
                  <a:srgbClr val="0070C0"/>
                </a:solidFill>
                <a:latin typeface="NanumBarunGothic"/>
                <a:ea typeface="NanumBarunGothic"/>
                <a:cs typeface="NanumBarunGothic"/>
              </a:rPr>
              <a:t>20,132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4800" y="4038600"/>
            <a:ext cx="1066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7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암세포주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5000" y="5334000"/>
            <a:ext cx="23114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07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7200" y="5689600"/>
            <a:ext cx="2565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8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Hotspot mutation (554)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7200" y="5956300"/>
            <a:ext cx="31496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83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Damaging mutation (19,578)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210300"/>
            <a:ext cx="7937500" cy="558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4000" y="254000"/>
            <a:ext cx="4216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3. 모델 예측 성능 비교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000" y="800100"/>
            <a:ext cx="8712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Logistic / Elastic Net / RF / XGBoost / ANN의 ROC-AUC 및 PR-AUC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6616700"/>
            <a:ext cx="14211300" cy="1930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578100" y="7124700"/>
            <a:ext cx="112141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가능. Random Forest 기준 ROC-AUC는 WGD 0.765, CIN 0.734, LOH 0.730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35400" y="7518400"/>
            <a:ext cx="8216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여러 모델 중 Random Forest가 가장 높은 예측 성능을 보임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7800" y="6438900"/>
            <a:ext cx="8343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Q1. Mutation만으로 WGD·CIN·LOH를 예측할 수 있는가?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485900"/>
            <a:ext cx="1568450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210300"/>
            <a:ext cx="6680200" cy="558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21600000">
            <a:off x="1651000" y="6870700"/>
            <a:ext cx="241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6" id="6"/>
          <p:cNvSpPr txBox="true"/>
          <p:nvPr/>
        </p:nvSpPr>
        <p:spPr>
          <a:xfrm rot="21600000">
            <a:off x="1651000" y="7200900"/>
            <a:ext cx="241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7" id="7"/>
          <p:cNvSpPr txBox="true"/>
          <p:nvPr/>
        </p:nvSpPr>
        <p:spPr>
          <a:xfrm rot="21600000">
            <a:off x="1651000" y="7518400"/>
            <a:ext cx="241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21600000">
            <a:off x="1651000" y="7835900"/>
            <a:ext cx="241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000" y="254000"/>
            <a:ext cx="5930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4. Biomarker selection stability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4000" y="800100"/>
            <a:ext cx="3009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유전자별 fold 선택 빈도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6794500"/>
            <a:ext cx="14211300" cy="1930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994400" y="7391400"/>
            <a:ext cx="8699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TP53 변이가 여러 fold에서 반복적으로 높은 중요도를 보였으며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56400" y="7810500"/>
            <a:ext cx="7086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ID3, BRAF, CREBBP 등도 주요 예측 변수로 확인됨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7200" y="7226300"/>
            <a:ext cx="11938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세 표현형 공통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8600" y="7226300"/>
            <a:ext cx="27432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TP53, ID3, BRAF, RB1, CREBBP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2600" y="7543800"/>
            <a:ext cx="889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WGD 특이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01900" y="7543800"/>
            <a:ext cx="32258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GNA13, KMT2D, CCND3, MSH3, NF1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5300" y="7861300"/>
            <a:ext cx="7366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CIN 특이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7600" y="7861300"/>
            <a:ext cx="3302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TYRO3, NFE2L2, SLFN11, ASXL1, SLK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2600" y="8178800"/>
            <a:ext cx="8128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LOH 특이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51100" y="8178800"/>
            <a:ext cx="33782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40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: ARID1A, TET2, SMARCA4, PTEN, CTCF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7800" y="6616700"/>
            <a:ext cx="6718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222222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Q2. 어떤 유전자 변이가 반복적으로 선택되는가?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1562100"/>
            <a:ext cx="15328900" cy="48895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6794500" y="1320800"/>
            <a:ext cx="2730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84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Random Forest, outer 5-fold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84300" y="1308100"/>
            <a:ext cx="13500100" cy="414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8100" y="5422900"/>
            <a:ext cx="10896600" cy="558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54000" y="266700"/>
            <a:ext cx="6350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5. Panel size–performance curve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" y="812800"/>
            <a:ext cx="351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panel 크기 별 예측 성능 평가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5689600"/>
            <a:ext cx="14211300" cy="3124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47800" y="5537200"/>
            <a:ext cx="11010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Q3. 일부 핵심 mutation만으로 전체 모델 성능의 상당 부분을 유지할 수 있는가?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2400" y="6756400"/>
            <a:ext cx="71501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10개 mutation feature만 사용해도 전체 모델 대비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8800" y="7162800"/>
            <a:ext cx="3746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ROC-AUC의 약 93~95%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20200" y="7569200"/>
            <a:ext cx="4152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PR-AUC의 약 90~95% 유지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6184900"/>
            <a:ext cx="5562600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6565900"/>
            <a:ext cx="6032500" cy="558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4000" y="254000"/>
            <a:ext cx="5143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Figure 6. Lineage 기반 일반화 검증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000" y="787400"/>
            <a:ext cx="8331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Random CV에서 얻은 성능이 다른 암종에도 유지되는지 두 단계로 검증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06100" y="609600"/>
            <a:ext cx="17526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24" b="false" i="false" u="none" strike="noStrike">
                <a:solidFill>
                  <a:srgbClr val="7F7F7F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24개 암종을 대상으로 반복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1100" y="889000"/>
            <a:ext cx="30988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24" b="false" i="false" u="none" strike="noStrike">
                <a:solidFill>
                  <a:srgbClr val="7F7F7F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1. 특정 암종 하나를 학습 데이터에서 완전히 제외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21900" y="1181100"/>
            <a:ext cx="30480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24" b="false" i="false" u="none" strike="noStrike">
                <a:solidFill>
                  <a:srgbClr val="7F7F7F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2. 나머지 23개 암종으로 Random Forest 학습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8300" y="1447800"/>
            <a:ext cx="21590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24" b="false" i="false" u="none" strike="noStrike">
                <a:solidFill>
                  <a:srgbClr val="7F7F7F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3. 제외했던 암종만으로 성능 평가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6845300"/>
            <a:ext cx="14211300" cy="1879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46200" y="6578600"/>
            <a:ext cx="990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Q4.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82800" y="6578600"/>
            <a:ext cx="5461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222222"/>
                </a:solidFill>
                <a:highlight>
                  <a:srgbClr val="FFFFFF"/>
                </a:highlight>
                <a:latin typeface="NanumBarunGothic"/>
                <a:ea typeface="NanumBarunGothic"/>
                <a:cs typeface="NanumBarunGothic"/>
              </a:rPr>
              <a:t>각각의 암종에서도 성능이 유지되는가?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22800" y="7340600"/>
            <a:ext cx="6845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일부 유지됐지만 모든 암종에서 동일하지는 않았음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7000" y="7747000"/>
            <a:ext cx="13652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4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암종을 분리하면 평균 ROC-AUC가 약 0.05~0.07 감소하고, 암종별 편차가 나타나 추가 검증이 필요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5900" y="1828800"/>
            <a:ext cx="15925800" cy="4813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7900" y="1739900"/>
            <a:ext cx="5613400" cy="43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36000" y="1739900"/>
            <a:ext cx="5613400" cy="431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790700" y="1739900"/>
            <a:ext cx="4216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30" b="true" i="false" u="none" strike="noStrike">
                <a:solidFill>
                  <a:srgbClr val="404040"/>
                </a:solidFill>
                <a:latin typeface="NanumBarunGothic"/>
                <a:ea typeface="NanumBarunGothic"/>
                <a:cs typeface="NanumBarunGothic"/>
              </a:rPr>
              <a:t>(a) Random CV vs Lineage GroupKFold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32100" y="2133600"/>
            <a:ext cx="21336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Random CV → GroupKFold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00400" y="23241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02000" y="2324100"/>
            <a:ext cx="12065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WGD : -0.065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51200" y="25273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65500" y="2527300"/>
            <a:ext cx="10795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CIN : -0.056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13100" y="2717800"/>
            <a:ext cx="241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40100" y="2730500"/>
            <a:ext cx="11430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3B3838"/>
                </a:solidFill>
                <a:latin typeface="NanumBarunGothic"/>
                <a:ea typeface="NanumBarunGothic"/>
                <a:cs typeface="NanumBarunGothic"/>
              </a:rPr>
              <a:t> LOH : -0.047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79000" y="1739900"/>
            <a:ext cx="3708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30" b="true" i="false" u="none" strike="noStrike">
                <a:solidFill>
                  <a:srgbClr val="404040"/>
                </a:solidFill>
                <a:latin typeface="NanumBarunGothic"/>
                <a:ea typeface="NanumBarunGothic"/>
                <a:cs typeface="NanumBarunGothic"/>
              </a:rPr>
              <a:t>(b) Leave-One-Lineage-Out 검증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77100" y="42672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66000" y="4267200"/>
            <a:ext cx="42672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CNS/Brain, Breast, Thyroid 등에서는 비교적 높은 성능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77100" y="44831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66000" y="4483100"/>
            <a:ext cx="276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Eye는 세 표현형 모두 매우 낮은 성능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77100" y="4699000"/>
            <a:ext cx="241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•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66000" y="4699000"/>
            <a:ext cx="42291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8" b="false" i="false" u="none" strike="noStrike">
                <a:solidFill>
                  <a:srgbClr val="262626"/>
                </a:solidFill>
                <a:latin typeface="NanumBarunGothic"/>
                <a:ea typeface="NanumBarunGothic"/>
                <a:cs typeface="NanumBarunGothic"/>
              </a:rPr>
              <a:t> Lung 등 일부 암종에서도 일부 표현형이 무작위 수준 이하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500" y="5511800"/>
            <a:ext cx="21844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세포주를 무작위로 분할하므로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1100" y="5715000"/>
            <a:ext cx="22479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같은 암종이 학습/평가 데이터에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2100" y="5918200"/>
            <a:ext cx="14097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모두 포함될 수 있음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89400" y="5511800"/>
            <a:ext cx="25146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같은 암종의 세포주가 학습과 평가에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30700" y="5715000"/>
            <a:ext cx="2019300" cy="26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37" b="false" i="false" u="none" strike="noStrike">
                <a:solidFill>
                  <a:srgbClr val="7F7F7F"/>
                </a:solidFill>
                <a:latin typeface="NanumBarunGothic"/>
                <a:ea typeface="NanumBarunGothic"/>
                <a:cs typeface="NanumBarunGothic"/>
              </a:rPr>
              <a:t>동시에 포함되지 않도록 나눔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700" y="4191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700" y="4191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546600" y="1828800"/>
            <a:ext cx="199898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WGD, CIN, LOH 상태를 무작위보다 높은 수준으로 구분할 수 있었고,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70900" y="2921000"/>
            <a:ext cx="18415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할 수 있어, 소수의 변이로 예측 정보를 줄일 가능성을 확인했다.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200" y="1841500"/>
            <a:ext cx="9817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암세포의 유전자 변이 정보만으로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" y="2387600"/>
            <a:ext cx="22364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TP53을 포함한 일부 유전자 변이가 반복적으로 중요한 특징으로 확인되었다.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" y="2933700"/>
            <a:ext cx="19469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tru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약 10개의 변이만 사용해도 전체 모델과 비슷한 수준의 성능을 유지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7200" y="4038600"/>
            <a:ext cx="242951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다만 암종을 분리한 검증에서 성능이 낮아지고 암종별 편차가 크게 나타났기 때문에,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200" y="4584700"/>
            <a:ext cx="219964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모든 암종에 공통으로 적용되는 고정 바이오마커 패널로 해석하기는 어렵다.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200" y="5130800"/>
            <a:ext cx="206883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각 암마다 데이터가 충분하면 성능이 올라갈 가능성이 있다고 생각한다.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7200" y="6248400"/>
            <a:ext cx="2249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따라서 해당 mutation panel은 향후 독립 코호트와 암종별 검증이 필요하다.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200" y="7327900"/>
            <a:ext cx="4889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이번 프로젝트는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3800" y="7327900"/>
            <a:ext cx="21348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유전자 변이만으로 유전체 불안정성을 예측할 수 있는 가능성을 확인하고,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200" y="7874000"/>
            <a:ext cx="191643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76" b="false" i="false" u="none" strike="noStrike">
                <a:solidFill>
                  <a:srgbClr val="C00000"/>
                </a:solidFill>
                <a:latin typeface="NanumBarunGothic"/>
                <a:ea typeface="NanumBarunGothic"/>
                <a:cs typeface="NanumBarunGothic"/>
              </a:rPr>
              <a:t>추가 검증이 필요한 바이오마커 후보를 제시했다는 데 의미가 있다.</a:t>
            </a:r>
          </a:p>
        </p:txBody>
      </p:sp>
      <p:sp>
        <p:nvSpPr>
          <p:cNvPr name="TextBox 16" id="16"/>
          <p:cNvSpPr txBox="true"/>
          <p:nvPr/>
        </p:nvSpPr>
        <p:spPr>
          <a:xfrm rot="21600000">
            <a:off x="7086600" y="444500"/>
            <a:ext cx="2247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4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최종 결론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" y="-12700"/>
            <a:ext cx="16281400" cy="916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21600000">
            <a:off x="6248400" y="4089400"/>
            <a:ext cx="39624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28" b="true" i="false" u="none" strike="noStrike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감사합니다 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