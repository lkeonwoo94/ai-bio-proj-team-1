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6256000" cy="9144000"/>
  <p:notesSz cx="6858000" cy="9144000"/>
  <p:embeddedFontLst>
    <p:embeddedFont>
      <p:font typeface="NanumBarunGothic"/>
      <p:regular r:id="rId19"/>
    </p:embeddedFont>
    <p:embeddedFont>
      <p:font typeface="Pretendard Regular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.fntdata" Type="http://schemas.openxmlformats.org/officeDocument/2006/relationships/font"/><Relationship Id="rId2" Target="presProps.xml" Type="http://schemas.openxmlformats.org/officeDocument/2006/relationships/presProps"/><Relationship Id="rId20" Target="fonts/font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47900" y="2514600"/>
            <a:ext cx="119507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823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DepMap DNA 변이 기반 유전체 불안정성 예측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82900" y="3378200"/>
            <a:ext cx="106807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823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및 최소 Mutation Biomarker Panel 발굴</a:t>
            </a:r>
          </a:p>
        </p:txBody>
      </p:sp>
      <p:sp>
        <p:nvSpPr>
          <p:cNvPr name="TextBox 4" id="4"/>
          <p:cNvSpPr txBox="true"/>
          <p:nvPr/>
        </p:nvSpPr>
        <p:spPr>
          <a:xfrm rot="21600000">
            <a:off x="6019800" y="5397500"/>
            <a:ext cx="4356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68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AI bio team project 1조</a:t>
            </a:r>
          </a:p>
        </p:txBody>
      </p:sp>
      <p:sp>
        <p:nvSpPr>
          <p:cNvPr name="TextBox 5" id="5"/>
          <p:cNvSpPr txBox="true"/>
          <p:nvPr/>
        </p:nvSpPr>
        <p:spPr>
          <a:xfrm rot="21600000">
            <a:off x="7277100" y="6248400"/>
            <a:ext cx="18034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7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이건우 원주영</a:t>
            </a:r>
          </a:p>
          <a:p>
            <a:pPr algn="l" lvl="0">
              <a:lnSpc>
                <a:spcPct val="116199"/>
              </a:lnSpc>
            </a:pPr>
            <a:r>
              <a:rPr lang="en-US" sz="237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정현희 박수현</a:t>
            </a:r>
          </a:p>
          <a:p>
            <a:pPr algn="l" lvl="0">
              <a:lnSpc>
                <a:spcPct val="116199"/>
              </a:lnSpc>
            </a:pPr>
            <a:r>
              <a:rPr lang="en-US" sz="237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김태현 배한얼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21600000">
            <a:off x="6692900" y="927100"/>
            <a:ext cx="30226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프로젝트 주제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7800" y="3073400"/>
            <a:ext cx="15900400" cy="401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 </a:t>
            </a:r>
            <a:r>
              <a:rPr lang="en-US" sz="28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1) mutation 정보만으로  WGD·CIN·LOH와 같은 유전체 불안정성 상태를 예측할 수 있는지 확인</a:t>
            </a:r>
          </a:p>
          <a:p>
            <a:pPr algn="ctr" lvl="0">
              <a:lnSpc>
                <a:spcPct val="116199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 2) 예측에 필요한 mutation 정보를 얼마나 줄일 수 있는지 탐색</a:t>
            </a:r>
          </a:p>
          <a:p>
            <a:pPr algn="ctr" lvl="0">
              <a:lnSpc>
                <a:spcPct val="116199"/>
              </a:lnSpc>
            </a:pPr>
            <a:r>
              <a:rPr lang="en-US" sz="146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3) 최종적으로, 최소 Mutation Marker Panel 발굴 가능성 확인 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20100" y="4038600"/>
            <a:ext cx="21082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예측 신호 확인 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10500" y="3759200"/>
            <a:ext cx="8382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↓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20100" y="5803900"/>
            <a:ext cx="15367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성능 유지 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10500" y="5524500"/>
            <a:ext cx="8382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↓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4700" y="3632200"/>
            <a:ext cx="6019800" cy="2590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암과 관련된 유전체 변화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: 개별 유전자 mutation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: 유전체 수준의 변화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↓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이번 프로젝트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: 유전체 수준의 변화 중 </a:t>
            </a:r>
            <a:r>
              <a:rPr lang="en-US" sz="2400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유전제 불안정성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에  주목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48800" y="1854200"/>
            <a:ext cx="6007100" cy="614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유전체 불안정성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- WGD (Whole Genome Doubling)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전체 유전체가 한 번 더 복제된 상태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- CIN (Chromosomal Instability)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염색체 수 &amp; 구조 계속 불안정하게 변하는 상태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- LOH (Loss of Heterozygosity)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서로 다른 두 유전정보 중 하나가 소실된 상태</a:t>
            </a:r>
          </a:p>
        </p:txBody>
      </p:sp>
      <p:sp>
        <p:nvSpPr>
          <p:cNvPr name="TextBox 4" id="4"/>
          <p:cNvSpPr txBox="true"/>
          <p:nvPr/>
        </p:nvSpPr>
        <p:spPr>
          <a:xfrm rot="21600000">
            <a:off x="6692900" y="927100"/>
            <a:ext cx="29972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Background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 rot="0">
            <a:off x="7277100" y="3251200"/>
            <a:ext cx="17145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24100" y="2933700"/>
            <a:ext cx="11607800" cy="401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Q1. Mutation 정보만으로 WGD·CIN·LOH를 예측할 수 있는가?</a:t>
            </a:r>
          </a:p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Q2. 예측에 반복적으로 중요하게 선택되는 mutation이 있는가?</a:t>
            </a:r>
          </a:p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Q3. 일부 주요 mutation만으로도 전체 모델 성능의 상당 부분을 유지할 수 있는가?</a:t>
            </a:r>
          </a:p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-&gt; 최소 mutation biomarker panel 발굴 가능성 탐색</a:t>
            </a:r>
          </a:p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Q4. 암종을 분리한 상황에서도 예측 성능이 유지되는가?</a:t>
            </a:r>
          </a:p>
        </p:txBody>
      </p:sp>
      <p:sp>
        <p:nvSpPr>
          <p:cNvPr name="TextBox 3" id="3"/>
          <p:cNvSpPr txBox="true"/>
          <p:nvPr/>
        </p:nvSpPr>
        <p:spPr>
          <a:xfrm rot="21600000">
            <a:off x="6692900" y="927100"/>
            <a:ext cx="21209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핵심 질문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21600000">
            <a:off x="254000" y="254000"/>
            <a:ext cx="35306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Figure 1. 연구 전체 흐름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70100" y="850900"/>
            <a:ext cx="12128500" cy="8102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10200" y="1206500"/>
            <a:ext cx="9563100" cy="4025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448300" y="4864100"/>
            <a:ext cx="9525000" cy="40132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54000" y="266700"/>
            <a:ext cx="45720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Figure 2. WGD/CIN/LOH 분포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4000" y="800100"/>
            <a:ext cx="103251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10개보다 적은 세포주에서만 나타나는 너무 희귀한 mutation을 제외 후 모델 학습에 사용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3300" y="3708400"/>
            <a:ext cx="2946400" cy="17272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562100" y="3441700"/>
            <a:ext cx="13589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66" b="true" i="false" u="none" strike="noStrike">
                <a:solidFill>
                  <a:srgbClr val="C00000"/>
                </a:solidFill>
                <a:latin typeface="NanumBarunGothic"/>
                <a:ea typeface="NanumBarunGothic"/>
                <a:cs typeface="NanumBarunGothic"/>
              </a:rPr>
              <a:t>1,631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11400" y="4737100"/>
            <a:ext cx="16256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66" b="true" i="false" u="none" strike="noStrike">
                <a:solidFill>
                  <a:srgbClr val="0070C0"/>
                </a:solidFill>
                <a:latin typeface="NanumBarunGothic"/>
                <a:ea typeface="NanumBarunGothic"/>
                <a:cs typeface="NanumBarunGothic"/>
              </a:rPr>
              <a:t>20,132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4800" y="4038600"/>
            <a:ext cx="10668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07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암세포주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05000" y="5334000"/>
            <a:ext cx="23114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07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Mutation 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7200" y="5689600"/>
            <a:ext cx="25654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783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Hotspot mutation (554)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7200" y="5956300"/>
            <a:ext cx="31496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783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Damaging mutation (19,578)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4000" y="254000"/>
            <a:ext cx="42164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Figure 3. 모델 예측 성능 비교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4000" y="800100"/>
            <a:ext cx="87122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Logistic / Elastic Net / RF / XGBoost / ANN의 ROC-AUC 및 PR-AUC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28700" y="6591300"/>
            <a:ext cx="14211300" cy="2298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47800" y="6413500"/>
            <a:ext cx="90805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NanumBarunGothic"/>
                <a:ea typeface="NanumBarunGothic"/>
                <a:cs typeface="NanumBarunGothic"/>
              </a:rPr>
              <a:t>Q1. Mutation 정보만으로 WGD·CIN·LOH를 예측할 수 있는가?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90900" y="7048500"/>
            <a:ext cx="94742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여러 모델 중 Random Forest가 가장 높은 예측 성능을 보임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Random Forest 기준 ROC-AUC는 WGD 0.765, CIN 0.734, LOH 0.730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5300" y="8064500"/>
            <a:ext cx="77470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true" u="sng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-&gt; Mutation 정보만으로 WGD CIN LOH를 예측할 수 있다.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92100" y="1485900"/>
            <a:ext cx="15684500" cy="469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14500" y="1346200"/>
            <a:ext cx="3073400" cy="495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985000" y="1346200"/>
            <a:ext cx="3073400" cy="495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319000" y="1346200"/>
            <a:ext cx="3073400" cy="4953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794500" y="1917700"/>
            <a:ext cx="27305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84" b="false" i="false" u="none" strike="noStrike">
                <a:solidFill>
                  <a:srgbClr val="3B3838"/>
                </a:solidFill>
                <a:latin typeface="NanumBarunGothic"/>
                <a:ea typeface="NanumBarunGothic"/>
                <a:cs typeface="NanumBarunGothic"/>
              </a:rPr>
              <a:t>Random Forest, outer 5-fold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4000" y="254000"/>
            <a:ext cx="59309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Figure 4. Biomarker selection stability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4000" y="800100"/>
            <a:ext cx="30099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7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유전자별 fold 선택 빈도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04800" y="2311400"/>
            <a:ext cx="15659100" cy="4991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4000" y="254000"/>
            <a:ext cx="59309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Figure 4. Biomarker selection stability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4000" y="800100"/>
            <a:ext cx="30099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7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유전자별 fold 선택 빈도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28700" y="2578100"/>
            <a:ext cx="14211300" cy="5232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47800" y="2400300"/>
            <a:ext cx="89662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false" i="false" u="none" strike="noStrike">
                <a:solidFill>
                  <a:srgbClr val="222222"/>
                </a:solidFill>
                <a:highlight>
                  <a:srgbClr val="FFFFFF"/>
                </a:highlight>
                <a:latin typeface="NanumBarunGothic"/>
                <a:ea typeface="NanumBarunGothic"/>
                <a:cs typeface="NanumBarunGothic"/>
              </a:rPr>
              <a:t>Q2. 예측에 반복적으로 중요하게 선택되는 mutation이 있는가?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45000" y="5638800"/>
            <a:ext cx="78994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TP53 변이가 여러 fold에서 반복적으로 높은 중요도를 보였으며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94300" y="6057900"/>
            <a:ext cx="64135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ID3, BRAF, CREBBP 등도 주요 예측 변수로 확인됨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18100" y="3238500"/>
            <a:ext cx="65532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 </a:t>
            </a:r>
            <a:r>
              <a:rPr lang="en-US" sz="2400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세 표현형 공통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: TP53, ID3, BRAF, RB1, CREBBP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03800" y="3797300"/>
            <a:ext cx="67818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WGD 특이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: GNA13, KMT2D, CCND3, MSH3, NF1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03800" y="4356100"/>
            <a:ext cx="67818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 </a:t>
            </a:r>
            <a:r>
              <a:rPr lang="en-US" sz="2400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CIN 특이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: TYRO3, NFE2L2, SLFN11, ASXL1, SLK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76800" y="4902200"/>
            <a:ext cx="70485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 </a:t>
            </a:r>
            <a:r>
              <a:rPr lang="en-US" sz="2400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LOH 특이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: ARID1A, TET2, SMARCA4, PTEN, CTCF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59300" y="6781800"/>
            <a:ext cx="76962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true" u="sng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-&gt; 예측에 반복적으로 중요하게 선택되는 mutation이 있다.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74800" y="1320800"/>
            <a:ext cx="13119100" cy="4025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54000" y="266700"/>
            <a:ext cx="63500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Figure 5. Panel size–performance curve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8600" y="812800"/>
            <a:ext cx="35179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panel 크기 별 예측 성능 평가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5689600"/>
            <a:ext cx="14973300" cy="3162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66800" y="5537200"/>
            <a:ext cx="113284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NanumBarunGothic"/>
                <a:ea typeface="NanumBarunGothic"/>
                <a:cs typeface="NanumBarunGothic"/>
              </a:rPr>
              <a:t>Q3. 일부 주요 mutation만으로도 전체 모델 성능의 상당 부분을 유지할 수 있는가?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77900" y="6146800"/>
            <a:ext cx="5562600" cy="2463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823200" y="6375400"/>
            <a:ext cx="6515100" cy="1308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10개 mutation feature만 사용해도 전체 모델 대비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ROC-AUC의 약 93~95%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PR-AUC의 약 90~95% 유지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39000" y="7874000"/>
            <a:ext cx="77978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true" u="sng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-&gt; 일부 주요 mutation만으로 성능 상당부분 유지할 수 있다.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4000" y="254000"/>
            <a:ext cx="51435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Figure 6. Lineage 기반 일반화 검증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4000" y="787400"/>
            <a:ext cx="83312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Random CV에서 얻은 성능이 다른 암종에도 유지되는지 두 단계로 검증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5100" y="1612900"/>
            <a:ext cx="15925800" cy="4813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7100" y="1524000"/>
            <a:ext cx="56134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585200" y="1524000"/>
            <a:ext cx="5613400" cy="431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39900" y="1524000"/>
            <a:ext cx="42164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30" b="true" i="false" u="none" strike="noStrike">
                <a:solidFill>
                  <a:srgbClr val="404040"/>
                </a:solidFill>
                <a:latin typeface="NanumBarunGothic"/>
                <a:ea typeface="NanumBarunGothic"/>
                <a:cs typeface="NanumBarunGothic"/>
              </a:rPr>
              <a:t>(a) Random CV vs Lineage GroupKFold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81300" y="1917700"/>
            <a:ext cx="21336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3B3838"/>
                </a:solidFill>
                <a:latin typeface="NanumBarunGothic"/>
                <a:ea typeface="NanumBarunGothic"/>
                <a:cs typeface="NanumBarunGothic"/>
              </a:rPr>
              <a:t>Random CV → GroupKFold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49600" y="2108200"/>
            <a:ext cx="2413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3B3838"/>
                </a:solidFill>
                <a:latin typeface="NanumBarunGothic"/>
                <a:ea typeface="NanumBarunGothic"/>
                <a:cs typeface="NanumBarunGothic"/>
              </a:rPr>
              <a:t>•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51200" y="2108200"/>
            <a:ext cx="12065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3B3838"/>
                </a:solidFill>
                <a:latin typeface="NanumBarunGothic"/>
                <a:ea typeface="NanumBarunGothic"/>
                <a:cs typeface="NanumBarunGothic"/>
              </a:rPr>
              <a:t> WGD : -0.065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00400" y="2311400"/>
            <a:ext cx="2413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3B3838"/>
                </a:solidFill>
                <a:latin typeface="NanumBarunGothic"/>
                <a:ea typeface="NanumBarunGothic"/>
                <a:cs typeface="NanumBarunGothic"/>
              </a:rPr>
              <a:t>•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14700" y="2311400"/>
            <a:ext cx="10795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3B3838"/>
                </a:solidFill>
                <a:latin typeface="NanumBarunGothic"/>
                <a:ea typeface="NanumBarunGothic"/>
                <a:cs typeface="NanumBarunGothic"/>
              </a:rPr>
              <a:t> CIN : -0.056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62300" y="2501900"/>
            <a:ext cx="2413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3B3838"/>
                </a:solidFill>
                <a:latin typeface="NanumBarunGothic"/>
                <a:ea typeface="NanumBarunGothic"/>
                <a:cs typeface="NanumBarunGothic"/>
              </a:rPr>
              <a:t>•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89300" y="2514600"/>
            <a:ext cx="11430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3B3838"/>
                </a:solidFill>
                <a:latin typeface="NanumBarunGothic"/>
                <a:ea typeface="NanumBarunGothic"/>
                <a:cs typeface="NanumBarunGothic"/>
              </a:rPr>
              <a:t> LOH : -0.047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28200" y="1524000"/>
            <a:ext cx="37084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30" b="true" i="false" u="none" strike="noStrike">
                <a:solidFill>
                  <a:srgbClr val="404040"/>
                </a:solidFill>
                <a:latin typeface="NanumBarunGothic"/>
                <a:ea typeface="NanumBarunGothic"/>
                <a:cs typeface="NanumBarunGothic"/>
              </a:rPr>
              <a:t>(b) Leave-One-Lineage-Out 검증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26300" y="4051300"/>
            <a:ext cx="2413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08" b="false" i="false" u="none" strike="noStrike">
                <a:solidFill>
                  <a:srgbClr val="262626"/>
                </a:solidFill>
                <a:latin typeface="NanumBarunGothic"/>
                <a:ea typeface="NanumBarunGothic"/>
                <a:cs typeface="NanumBarunGothic"/>
              </a:rPr>
              <a:t>•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15200" y="4051300"/>
            <a:ext cx="42672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08" b="false" i="false" u="none" strike="noStrike">
                <a:solidFill>
                  <a:srgbClr val="262626"/>
                </a:solidFill>
                <a:latin typeface="NanumBarunGothic"/>
                <a:ea typeface="NanumBarunGothic"/>
                <a:cs typeface="NanumBarunGothic"/>
              </a:rPr>
              <a:t> CNS/Brain, Breast, Thyroid 등에서는 비교적 높은 성능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26300" y="4267200"/>
            <a:ext cx="2413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08" b="false" i="false" u="none" strike="noStrike">
                <a:solidFill>
                  <a:srgbClr val="262626"/>
                </a:solidFill>
                <a:latin typeface="NanumBarunGothic"/>
                <a:ea typeface="NanumBarunGothic"/>
                <a:cs typeface="NanumBarunGothic"/>
              </a:rPr>
              <a:t>•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15200" y="4267200"/>
            <a:ext cx="276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08" b="false" i="false" u="none" strike="noStrike">
                <a:solidFill>
                  <a:srgbClr val="262626"/>
                </a:solidFill>
                <a:latin typeface="NanumBarunGothic"/>
                <a:ea typeface="NanumBarunGothic"/>
                <a:cs typeface="NanumBarunGothic"/>
              </a:rPr>
              <a:t> Eye는 세 표현형 모두 매우 낮은 성능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26300" y="4483100"/>
            <a:ext cx="2413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08" b="false" i="false" u="none" strike="noStrike">
                <a:solidFill>
                  <a:srgbClr val="262626"/>
                </a:solidFill>
                <a:latin typeface="NanumBarunGothic"/>
                <a:ea typeface="NanumBarunGothic"/>
                <a:cs typeface="NanumBarunGothic"/>
              </a:rPr>
              <a:t>•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15200" y="4483100"/>
            <a:ext cx="42291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08" b="false" i="false" u="none" strike="noStrike">
                <a:solidFill>
                  <a:srgbClr val="262626"/>
                </a:solidFill>
                <a:latin typeface="NanumBarunGothic"/>
                <a:ea typeface="NanumBarunGothic"/>
                <a:cs typeface="NanumBarunGothic"/>
              </a:rPr>
              <a:t> Lung 등 일부 암종에서도 일부 표현형이 무작위 수준 이하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5700" y="5295900"/>
            <a:ext cx="21844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7F7F7F"/>
                </a:solidFill>
                <a:latin typeface="NanumBarunGothic"/>
                <a:ea typeface="NanumBarunGothic"/>
                <a:cs typeface="NanumBarunGothic"/>
              </a:rPr>
              <a:t>세포주를 무작위로 분할하므로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0300" y="5499100"/>
            <a:ext cx="22479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7F7F7F"/>
                </a:solidFill>
                <a:latin typeface="NanumBarunGothic"/>
                <a:ea typeface="NanumBarunGothic"/>
                <a:cs typeface="NanumBarunGothic"/>
              </a:rPr>
              <a:t>같은 암종이 학습/평가 데이터에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1300" y="5702300"/>
            <a:ext cx="14097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7F7F7F"/>
                </a:solidFill>
                <a:latin typeface="NanumBarunGothic"/>
                <a:ea typeface="NanumBarunGothic"/>
                <a:cs typeface="NanumBarunGothic"/>
              </a:rPr>
              <a:t>모두 포함될 수 있음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38600" y="5295900"/>
            <a:ext cx="25146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7F7F7F"/>
                </a:solidFill>
                <a:latin typeface="NanumBarunGothic"/>
                <a:ea typeface="NanumBarunGothic"/>
                <a:cs typeface="NanumBarunGothic"/>
              </a:rPr>
              <a:t>같은 암종의 세포주가 학습과 평가에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79900" y="5499100"/>
            <a:ext cx="20193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7F7F7F"/>
                </a:solidFill>
                <a:latin typeface="NanumBarunGothic"/>
                <a:ea typeface="NanumBarunGothic"/>
                <a:cs typeface="NanumBarunGothic"/>
              </a:rPr>
              <a:t>동시에 포함되지 않도록 나눔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6756400"/>
            <a:ext cx="14211300" cy="21336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295400" y="6502400"/>
            <a:ext cx="9906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NanumBarunGothic"/>
                <a:ea typeface="NanumBarunGothic"/>
                <a:cs typeface="NanumBarunGothic"/>
              </a:rPr>
              <a:t>Q4.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32000" y="6502400"/>
            <a:ext cx="70993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false" i="false" u="none" strike="noStrike">
                <a:solidFill>
                  <a:srgbClr val="222222"/>
                </a:solidFill>
                <a:highlight>
                  <a:srgbClr val="FFFFFF"/>
                </a:highlight>
                <a:latin typeface="NanumBarunGothic"/>
                <a:ea typeface="NanumBarunGothic"/>
                <a:cs typeface="NanumBarunGothic"/>
              </a:rPr>
              <a:t>암종을 분리한 상황에서도 예측 성능이 유지되는가?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060700" y="7162800"/>
            <a:ext cx="101219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암종을 분리해 평가한 결과, 예측 성능은 평균 ROC-AUC 기준 약 0.05~0.07 감소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예측 성능은 일부 유지되었으나 암종별 성능 편차가 크게 나타남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692400" y="8128000"/>
            <a:ext cx="109728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true" u="sng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-&gt; 모든 암종의 공통 모델로 해석하기에는 한계가 있으며 암종별 추가검증해볼 수 있다.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21600000">
            <a:off x="7086600" y="406400"/>
            <a:ext cx="22479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48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최종 결론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2800" y="7493000"/>
            <a:ext cx="14630400" cy="1028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00" b="true" i="tru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Mutation 기반 유전체 불안정성 예측과 최소 biomarker 후보 panel의 가능성을 확인하고</a:t>
            </a:r>
          </a:p>
          <a:p>
            <a:pPr algn="ctr" lvl="0">
              <a:lnSpc>
                <a:spcPct val="116199"/>
              </a:lnSpc>
            </a:pPr>
            <a:r>
              <a:rPr lang="en-US" sz="2800" b="true" i="tru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모든 암종 적용을 위해 추가 검증이 필요함을 제시했다.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62100" y="1435100"/>
            <a:ext cx="131191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Q1. Mutation 정보만으로 WGD·CIN·LOH를 예측할 수 있는가?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A1. Mutation 정보만으로 WGD·CIN·LOH를 무작위보다 높은 수준으로 예측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62100" y="5740400"/>
            <a:ext cx="13119100" cy="1308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Q4. 암종을 분리한 상황에서도 예측 성능이 유지되는가?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A4. 암종을 분리하면 예측 성능이 감소하고 암종별 편차가 크게 나타남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-&gt; 모든 암종에 공통 적용되는 mutation biomarker panel로 해석하기는 어려움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2100" y="3733800"/>
            <a:ext cx="13119100" cy="173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Q3. 일부 주요 mutation만으로도 전체 모델 성능의 상당 부분을 유지할 수 있는가?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A3. 약 10개 mutation feature만으로도 전체 모델 성능의 상당 부분 유지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-&gt; 고차원의 mutation 정보를 소수의 주요 mutation feature로 축소 가능하다는 것을 확인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-&gt; 최소 mutation biomarker panel 가능성 확인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62100" y="2578100"/>
            <a:ext cx="131191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Q2. 예측에 반복적으로 중요하게 선택되는 mutation이 있는가?</a:t>
            </a:r>
          </a:p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A2. TP53 등 일부 mutation이 반복적으로 중요한 예측 변수로 확인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21600000">
            <a:off x="6248400" y="4089400"/>
            <a:ext cx="39624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28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감사합니다 :)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