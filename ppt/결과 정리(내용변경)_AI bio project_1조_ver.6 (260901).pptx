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embeddedFontLs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58140" autoAdjust="0"/>
  </p:normalViewPr>
  <p:slideViewPr>
    <p:cSldViewPr>
      <p:cViewPr varScale="1">
        <p:scale>
          <a:sx n="36" d="100"/>
          <a:sy n="36" d="100"/>
        </p:scale>
        <p:origin x="199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EBA59-11B4-49D4-BCEE-0C07324B8E7B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B73B1-D5EE-44EA-B4AE-534D1FD0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873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주제는 </a:t>
            </a:r>
            <a:r>
              <a:rPr lang="en-US" altLang="ko-KR" dirty="0" err="1"/>
              <a:t>DepMap</a:t>
            </a:r>
            <a:r>
              <a:rPr lang="en-US" altLang="ko-KR" dirty="0"/>
              <a:t> DNA </a:t>
            </a:r>
            <a:r>
              <a:rPr lang="ko-KR" altLang="en-US" dirty="0"/>
              <a:t>변이 기반 유전체 불안정성 예측 및 최소 </a:t>
            </a:r>
            <a:r>
              <a:rPr lang="en-US" altLang="ko-KR" dirty="0"/>
              <a:t>Mutation biomarker panel</a:t>
            </a:r>
            <a:r>
              <a:rPr lang="ko-KR" altLang="en-US" dirty="0"/>
              <a:t> 발굴입니다</a:t>
            </a:r>
            <a:r>
              <a:rPr lang="en-US" altLang="ko-KR" dirty="0"/>
              <a:t>. </a:t>
            </a:r>
            <a:r>
              <a:rPr lang="ko-KR" altLang="en-US" dirty="0"/>
              <a:t>이러한 목적을 이루기 위해서 프로젝트를 세 단계로 진행해보았습니다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첫 번째로</a:t>
            </a:r>
            <a:r>
              <a:rPr lang="en-US" altLang="ko-KR" dirty="0"/>
              <a:t> mutation </a:t>
            </a:r>
            <a:r>
              <a:rPr lang="ko-KR" altLang="en-US" dirty="0"/>
              <a:t>정보만으로 </a:t>
            </a:r>
            <a:r>
              <a:rPr lang="en-US" altLang="ko-KR" dirty="0"/>
              <a:t>WGD, CIN, LOH</a:t>
            </a:r>
            <a:r>
              <a:rPr lang="ko-KR" altLang="en-US" dirty="0"/>
              <a:t>와 같은 유전체 불안정성 상태를 예측할 수 있는지 확인하고자 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여기서 실제로 예측 신호가 확인된다면</a:t>
            </a:r>
            <a:r>
              <a:rPr lang="en-US" altLang="ko-KR" dirty="0"/>
              <a:t>, </a:t>
            </a:r>
            <a:r>
              <a:rPr lang="ko-KR" altLang="en-US" dirty="0"/>
              <a:t>두 번째 단계에서는 예측에 필요한 </a:t>
            </a:r>
            <a:r>
              <a:rPr lang="en-US" altLang="ko-KR" dirty="0"/>
              <a:t>mutation </a:t>
            </a:r>
            <a:r>
              <a:rPr lang="ko-KR" altLang="en-US" dirty="0"/>
              <a:t>정보를 얼마나 줄일 수 있는지를 탐색했습니다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수많은 </a:t>
            </a:r>
            <a:r>
              <a:rPr lang="en-US" altLang="ko-KR" dirty="0"/>
              <a:t>mutation </a:t>
            </a:r>
            <a:r>
              <a:rPr lang="ko-KR" altLang="en-US" dirty="0"/>
              <a:t>정보를 모두 사용하지 않고도 일부 핵심 </a:t>
            </a:r>
            <a:r>
              <a:rPr lang="en-US" altLang="ko-KR" dirty="0"/>
              <a:t>mutation</a:t>
            </a:r>
            <a:r>
              <a:rPr lang="ko-KR" altLang="en-US" dirty="0"/>
              <a:t>만으로 예측 성능을 유지할 수 있는지를 확인했습니다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이 과정에서 성능이 충분히 유지된다면</a:t>
            </a:r>
            <a:r>
              <a:rPr lang="en-US" altLang="ko-KR" dirty="0"/>
              <a:t>, </a:t>
            </a:r>
            <a:r>
              <a:rPr lang="ko-KR" altLang="en-US" dirty="0"/>
              <a:t>최종적으로는 소수의 </a:t>
            </a:r>
            <a:r>
              <a:rPr lang="en-US" altLang="ko-KR" dirty="0"/>
              <a:t>mutation</a:t>
            </a:r>
            <a:r>
              <a:rPr lang="ko-KR" altLang="en-US" dirty="0"/>
              <a:t>으로 구성된 최소 </a:t>
            </a:r>
            <a:r>
              <a:rPr lang="en-US" altLang="ko-KR" dirty="0"/>
              <a:t>Mutation Marker Panel</a:t>
            </a:r>
            <a:r>
              <a:rPr lang="ko-KR" altLang="en-US" dirty="0"/>
              <a:t>의 가능성을 확인하는 것을 목표로 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다시 말해</a:t>
            </a:r>
            <a:r>
              <a:rPr lang="en-US" altLang="ko-KR" dirty="0"/>
              <a:t>, </a:t>
            </a:r>
            <a:r>
              <a:rPr lang="ko-KR" altLang="en-US" dirty="0"/>
              <a:t>저희는 단순히 유전체 불안정성을 예측하고 더 나아가 예측에 필요한 필수 정보만 남겨 최종적으로 소형 </a:t>
            </a:r>
            <a:r>
              <a:rPr lang="en-US" altLang="ko-KR" dirty="0"/>
              <a:t>mutation panel</a:t>
            </a:r>
            <a:r>
              <a:rPr lang="ko-KR" altLang="en-US" dirty="0"/>
              <a:t>로 확장할 수 있는 가능성까지 단계적으로 검증하는 방향으로 프로젝트를 설계했습니다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341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암세포에서는 유전자 수준의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나타나지만 염색체와 전체 유전체 수준의 변화도 함께 나타날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프로젝트에서는 유전체 수준의 변화 중 유전체 불안정성에 주목하여 진행하였습니다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유전체 불안정성과 관련된 대표적인 세가지로는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WGD, CIN, LOH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WGD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암세포의 전체 유전체가 한 번 더 복제된 상태이고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염색체의 수나 구조가 계속 불안정하게 변하는 상태입니다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LOH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같은 위치에 있던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서로다른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유전정보 중 하나가 소실된 상태를 말합니다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프로젝트에서 세 상태는 모두 암세포의 유전체 불안정성과 관련되지만 서로 같은 상태는 아니기 때문에 각각 별도로 분석했습니다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671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" Type="http://schemas.openxmlformats.org/officeDocument/2006/relationships/image" Target="../media/image59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2514600"/>
            <a:ext cx="11772900" cy="889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900" y="3378200"/>
            <a:ext cx="10502900" cy="88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19800" y="5397500"/>
            <a:ext cx="4229100" cy="596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277100" y="6248400"/>
            <a:ext cx="1714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92900" y="927100"/>
            <a:ext cx="2870200" cy="73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3073400"/>
            <a:ext cx="15697200" cy="401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0100" y="4038600"/>
            <a:ext cx="2019300" cy="431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0" y="3759200"/>
            <a:ext cx="635000" cy="977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0100" y="5803900"/>
            <a:ext cx="1447800" cy="431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0" y="5524500"/>
            <a:ext cx="6350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3632200"/>
            <a:ext cx="5930900" cy="2590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0" y="1854200"/>
            <a:ext cx="5905500" cy="6146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92900" y="927100"/>
            <a:ext cx="2844800" cy="73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alphaModFix amt="42000"/>
          </a:blip>
          <a:stretch>
            <a:fillRect/>
          </a:stretch>
        </p:blipFill>
        <p:spPr>
          <a:xfrm>
            <a:off x="7277100" y="3251200"/>
            <a:ext cx="17145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900" y="2933700"/>
            <a:ext cx="11506200" cy="401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92900" y="927100"/>
            <a:ext cx="1968500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4000" y="254000"/>
            <a:ext cx="3429000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100" y="850900"/>
            <a:ext cx="12128500" cy="810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206500"/>
            <a:ext cx="9563100" cy="4025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0" y="4864100"/>
            <a:ext cx="9525000" cy="401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266700"/>
            <a:ext cx="4470400" cy="50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800100"/>
            <a:ext cx="10236200" cy="431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300" y="3708400"/>
            <a:ext cx="2946400" cy="172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100" y="3441700"/>
            <a:ext cx="1219200" cy="660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1400" y="4737100"/>
            <a:ext cx="1485900" cy="660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4038600"/>
            <a:ext cx="9906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0" y="5334000"/>
            <a:ext cx="2235200" cy="40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7200" y="5689600"/>
            <a:ext cx="2501900" cy="342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7200" y="5956300"/>
            <a:ext cx="30861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54000"/>
            <a:ext cx="4114800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800100"/>
            <a:ext cx="8623300" cy="431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6591300"/>
            <a:ext cx="14211300" cy="2298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6413500"/>
            <a:ext cx="8978900" cy="50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700" y="7048500"/>
            <a:ext cx="9385300" cy="889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300" y="8064500"/>
            <a:ext cx="7645400" cy="482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100" y="1485900"/>
            <a:ext cx="15684500" cy="469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346200"/>
            <a:ext cx="3073400" cy="495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0" y="1346200"/>
            <a:ext cx="3073400" cy="495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0" y="1346200"/>
            <a:ext cx="3073400" cy="495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0" y="1917700"/>
            <a:ext cx="26670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254000"/>
            <a:ext cx="5829300" cy="50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800100"/>
            <a:ext cx="2921000" cy="45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311400"/>
            <a:ext cx="1565910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54000"/>
            <a:ext cx="5829300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800100"/>
            <a:ext cx="2921000" cy="457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578100"/>
            <a:ext cx="14211300" cy="5232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2400300"/>
            <a:ext cx="8864600" cy="50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000" y="5638800"/>
            <a:ext cx="7810500" cy="45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4300" y="6057900"/>
            <a:ext cx="6324600" cy="45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8100" y="3238500"/>
            <a:ext cx="64643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800" y="3797300"/>
            <a:ext cx="6692900" cy="457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3800" y="4356100"/>
            <a:ext cx="6692900" cy="457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4902200"/>
            <a:ext cx="6959600" cy="457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9300" y="6781800"/>
            <a:ext cx="75946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74800" y="1320800"/>
            <a:ext cx="13119100" cy="4025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66700"/>
            <a:ext cx="6248400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812800"/>
            <a:ext cx="3429000" cy="431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5689600"/>
            <a:ext cx="14973300" cy="3162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5537200"/>
            <a:ext cx="11226800" cy="508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" y="6146800"/>
            <a:ext cx="5562600" cy="246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0" y="6375400"/>
            <a:ext cx="6426200" cy="130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0" y="7874000"/>
            <a:ext cx="76962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54000"/>
            <a:ext cx="5041900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787400"/>
            <a:ext cx="8242300" cy="431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" y="1612900"/>
            <a:ext cx="15925800" cy="481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" y="1524000"/>
            <a:ext cx="5613400" cy="431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200" y="1524000"/>
            <a:ext cx="5613400" cy="431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9900" y="1524000"/>
            <a:ext cx="4152900" cy="355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300" y="1917700"/>
            <a:ext cx="2082800" cy="266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9600" y="2108200"/>
            <a:ext cx="190500" cy="266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1200" y="2108200"/>
            <a:ext cx="1155700" cy="266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2311400"/>
            <a:ext cx="190500" cy="266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4700" y="2311400"/>
            <a:ext cx="1028700" cy="266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2300" y="2501900"/>
            <a:ext cx="190500" cy="266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9300" y="2514600"/>
            <a:ext cx="1092200" cy="266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8200" y="1524000"/>
            <a:ext cx="3644900" cy="355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26300" y="4051300"/>
            <a:ext cx="190500" cy="279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5200" y="4051300"/>
            <a:ext cx="4216400" cy="279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26300" y="4267200"/>
            <a:ext cx="190500" cy="279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0" y="4267200"/>
            <a:ext cx="2717800" cy="279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26300" y="4483100"/>
            <a:ext cx="190500" cy="279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0" y="4483100"/>
            <a:ext cx="4178300" cy="279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5700" y="5295900"/>
            <a:ext cx="2133600" cy="266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0300" y="5499100"/>
            <a:ext cx="2197100" cy="266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11300" y="5702300"/>
            <a:ext cx="1358900" cy="266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38600" y="5295900"/>
            <a:ext cx="2463800" cy="266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79900" y="5499100"/>
            <a:ext cx="1968500" cy="266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8700" y="6756400"/>
            <a:ext cx="14211300" cy="2133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95400" y="6502400"/>
            <a:ext cx="889000" cy="508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32000" y="6502400"/>
            <a:ext cx="6997700" cy="508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11500" y="7162800"/>
            <a:ext cx="10033000" cy="889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92400" y="8128000"/>
            <a:ext cx="108712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86600" y="406400"/>
            <a:ext cx="2082800" cy="787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7493000"/>
            <a:ext cx="14528800" cy="1028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900" y="1600200"/>
            <a:ext cx="13030200" cy="889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900" y="5905500"/>
            <a:ext cx="130302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900" y="3898900"/>
            <a:ext cx="13030200" cy="173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2900" y="2743200"/>
            <a:ext cx="13030200" cy="88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48400" y="4089400"/>
            <a:ext cx="3759200" cy="977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232</Words>
  <Application>Microsoft Office PowerPoint</Application>
  <PresentationFormat>사용자 지정</PresentationFormat>
  <Paragraphs>15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Calibri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현희 정</cp:lastModifiedBy>
  <cp:revision>4</cp:revision>
  <dcterms:created xsi:type="dcterms:W3CDTF">2006-08-16T00:00:00Z</dcterms:created>
  <dcterms:modified xsi:type="dcterms:W3CDTF">2026-09-01T05:19:24Z</dcterms:modified>
</cp:coreProperties>
</file>